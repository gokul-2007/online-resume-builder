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24B"/>
        </a:solidFill>
      </p:bgPr>
    </p:bg>
    <p:spTree>
      <p:nvGrpSpPr>
        <p:cNvPr id="1" name=""/>
        <p:cNvGrpSpPr/>
        <p:nvPr/>
      </p:nvGrpSpPr>
      <p:grpSpPr>
        <a:xfrm>
          <a:off x="0" y="0"/>
          <a:ext cx="0" cy="0"/>
          <a:chOff x="0" y="0"/>
          <a:chExt cx="0" cy="0"/>
        </a:xfrm>
      </p:grpSpPr>
      <p:sp>
        <p:nvSpPr>
          <p:cNvPr id="2" name="Shape 0"/>
          <p:cNvSpPr/>
          <p:nvPr/>
        </p:nvSpPr>
        <p:spPr>
          <a:xfrm>
            <a:off x="9144000" y="-914400"/>
            <a:ext cx="4572000" cy="4572000"/>
          </a:xfrm>
          <a:prstGeom prst="ellipse">
            <a:avLst/>
          </a:prstGeom>
          <a:solidFill>
            <a:srgbClr val="202D62">
              <a:alpha val="50000"/>
            </a:srgbClr>
          </a:solidFill>
          <a:ln w="12700">
            <a:solidFill>
              <a:srgbClr val="202D62">
                <a:alpha val="0"/>
              </a:srgbClr>
            </a:solidFill>
            <a:prstDash val="solid"/>
          </a:ln>
        </p:spPr>
      </p:sp>
      <p:sp>
        <p:nvSpPr>
          <p:cNvPr id="3" name="Shape 1"/>
          <p:cNvSpPr/>
          <p:nvPr/>
        </p:nvSpPr>
        <p:spPr>
          <a:xfrm>
            <a:off x="9601200" y="4114800"/>
            <a:ext cx="4114800" cy="4114800"/>
          </a:xfrm>
          <a:prstGeom prst="ellipse">
            <a:avLst/>
          </a:prstGeom>
          <a:solidFill>
            <a:srgbClr val="202D62">
              <a:alpha val="40000"/>
            </a:srgbClr>
          </a:solidFill>
          <a:ln w="12700">
            <a:solidFill>
              <a:srgbClr val="202D62">
                <a:alpha val="0"/>
              </a:srgbClr>
            </a:solidFill>
            <a:prstDash val="solid"/>
          </a:ln>
        </p:spPr>
      </p:sp>
      <p:sp>
        <p:nvSpPr>
          <p:cNvPr id="4" name="Text 2"/>
          <p:cNvSpPr/>
          <p:nvPr/>
        </p:nvSpPr>
        <p:spPr>
          <a:xfrm>
            <a:off x="731520" y="1828800"/>
            <a:ext cx="9144000" cy="27432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PROJECT REVIEW PRESENTATION</a:t>
            </a:r>
            <a:endParaRPr lang="en-US" sz="1200" dirty="0"/>
          </a:p>
        </p:txBody>
      </p:sp>
      <p:sp>
        <p:nvSpPr>
          <p:cNvPr id="5" name="Text 3"/>
          <p:cNvSpPr/>
          <p:nvPr/>
        </p:nvSpPr>
        <p:spPr>
          <a:xfrm>
            <a:off x="731520" y="2194560"/>
            <a:ext cx="10515600" cy="13716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Full-Stack ATS Resume Builder &amp;</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Candidate Recruiter Portal</a:t>
            </a:r>
            <a:endParaRPr lang="en-US" sz="2800" dirty="0"/>
          </a:p>
        </p:txBody>
      </p:sp>
      <p:sp>
        <p:nvSpPr>
          <p:cNvPr id="6" name="Text 4"/>
          <p:cNvSpPr/>
          <p:nvPr/>
        </p:nvSpPr>
        <p:spPr>
          <a:xfrm>
            <a:off x="731520" y="3840480"/>
            <a:ext cx="9144000" cy="2377440"/>
          </a:xfrm>
          <a:prstGeom prst="rect">
            <a:avLst/>
          </a:prstGeom>
          <a:noFill/>
          <a:ln/>
        </p:spPr>
        <p:txBody>
          <a:bodyPr wrap="square" rtlCol="0" anchor="ctr"/>
          <a:lstStyle/>
          <a:p>
            <a:pPr indent="0" marL="0">
              <a:buNone/>
            </a:pPr>
            <a:r>
              <a:rPr lang="en-US" sz="1100" b="1" dirty="0">
                <a:solidFill>
                  <a:srgbClr val="93C5FD"/>
                </a:solidFill>
                <a:latin typeface="Arial" pitchFamily="34" charset="0"/>
                <a:ea typeface="Arial" pitchFamily="34" charset="-122"/>
                <a:cs typeface="Arial" pitchFamily="34" charset="-120"/>
              </a:rPr>
              <a:t>Student name(s): </a:t>
            </a:r>
            <a:pPr indent="0" marL="0">
              <a:buNone/>
            </a:pPr>
            <a:r>
              <a:rPr lang="en-US" sz="1100" dirty="0">
                <a:solidFill>
                  <a:srgbClr val="FFFFFF"/>
                </a:solidFill>
                <a:latin typeface="Arial" pitchFamily="34" charset="0"/>
                <a:ea typeface="Arial" pitchFamily="34" charset="-122"/>
                <a:cs typeface="Arial" pitchFamily="34" charset="-120"/>
              </a:rPr>
              <a:t>Project Developer
</a:t>
            </a:r>
            <a:pPr indent="0" marL="0">
              <a:buNone/>
            </a:pPr>
            <a:r>
              <a:rPr lang="en-US" sz="1100" b="1" dirty="0">
                <a:solidFill>
                  <a:srgbClr val="93C5FD"/>
                </a:solidFill>
                <a:latin typeface="Arial" pitchFamily="34" charset="0"/>
                <a:ea typeface="Arial" pitchFamily="34" charset="-122"/>
                <a:cs typeface="Arial" pitchFamily="34" charset="-120"/>
              </a:rPr>
              <a:t>Register / roll number: </a:t>
            </a:r>
            <a:pPr indent="0" marL="0">
              <a:buNone/>
            </a:pPr>
            <a:r>
              <a:rPr lang="en-US" sz="1100" dirty="0">
                <a:solidFill>
                  <a:srgbClr val="FFFFFF"/>
                </a:solidFill>
                <a:latin typeface="Arial" pitchFamily="34" charset="0"/>
                <a:ea typeface="Arial" pitchFamily="34" charset="-122"/>
                <a:cs typeface="Arial" pitchFamily="34" charset="-120"/>
              </a:rPr>
              <a:t>REG-2024-CS-01
</a:t>
            </a:r>
            <a:pPr indent="0" marL="0">
              <a:buNone/>
            </a:pPr>
            <a:r>
              <a:rPr lang="en-US" sz="1100" b="1" dirty="0">
                <a:solidFill>
                  <a:srgbClr val="93C5FD"/>
                </a:solidFill>
                <a:latin typeface="Arial" pitchFamily="34" charset="0"/>
                <a:ea typeface="Arial" pitchFamily="34" charset="-122"/>
                <a:cs typeface="Arial" pitchFamily="34" charset="-120"/>
              </a:rPr>
              <a:t>Class / section: </a:t>
            </a:r>
            <a:pPr indent="0" marL="0">
              <a:buNone/>
            </a:pPr>
            <a:r>
              <a:rPr lang="en-US" sz="1100" dirty="0">
                <a:solidFill>
                  <a:srgbClr val="FFFFFF"/>
                </a:solidFill>
                <a:latin typeface="Arial" pitchFamily="34" charset="0"/>
                <a:ea typeface="Arial" pitchFamily="34" charset="-122"/>
                <a:cs typeface="Arial" pitchFamily="34" charset="-120"/>
              </a:rPr>
              <a:t>B.Tech Computer Science &amp; Engineering
</a:t>
            </a:r>
            <a:pPr indent="0" marL="0">
              <a:buNone/>
            </a:pPr>
            <a:r>
              <a:rPr lang="en-US" sz="1100" b="1" dirty="0">
                <a:solidFill>
                  <a:srgbClr val="93C5FD"/>
                </a:solidFill>
                <a:latin typeface="Arial" pitchFamily="34" charset="0"/>
                <a:ea typeface="Arial" pitchFamily="34" charset="-122"/>
                <a:cs typeface="Arial" pitchFamily="34" charset="-120"/>
              </a:rPr>
              <a:t>Guide / trainer: </a:t>
            </a:r>
            <a:pPr indent="0" marL="0">
              <a:buNone/>
            </a:pPr>
            <a:r>
              <a:rPr lang="en-US" sz="1100" dirty="0">
                <a:solidFill>
                  <a:srgbClr val="FFFFFF"/>
                </a:solidFill>
                <a:latin typeface="Arial" pitchFamily="34" charset="0"/>
                <a:ea typeface="Arial" pitchFamily="34" charset="-122"/>
                <a:cs typeface="Arial" pitchFamily="34" charset="-120"/>
              </a:rPr>
              <a:t>Internal Project Review Committee
</a:t>
            </a:r>
            <a:pPr indent="0" marL="0">
              <a:buNone/>
            </a:pPr>
            <a:r>
              <a:rPr lang="en-US" sz="1100" b="1" dirty="0">
                <a:solidFill>
                  <a:srgbClr val="93C5FD"/>
                </a:solidFill>
                <a:latin typeface="Arial" pitchFamily="34" charset="0"/>
                <a:ea typeface="Arial" pitchFamily="34" charset="-122"/>
                <a:cs typeface="Arial" pitchFamily="34" charset="-120"/>
              </a:rPr>
              <a:t>Course / subject: </a:t>
            </a:r>
            <a:pPr indent="0" marL="0">
              <a:buNone/>
            </a:pPr>
            <a:r>
              <a:rPr lang="en-US" sz="1100" dirty="0">
                <a:solidFill>
                  <a:srgbClr val="FFFFFF"/>
                </a:solidFill>
                <a:latin typeface="Arial" pitchFamily="34" charset="0"/>
                <a:ea typeface="Arial" pitchFamily="34" charset="-122"/>
                <a:cs typeface="Arial" pitchFamily="34" charset="-120"/>
              </a:rPr>
              <a:t>Capstone / Major Project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01</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PROJECT OVERVIEW</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097280"/>
            <a:ext cx="11274552" cy="1417320"/>
          </a:xfrm>
          <a:prstGeom prst="roundRect">
            <a:avLst/>
          </a:prstGeom>
          <a:solidFill>
            <a:srgbClr val="EDF2F9"/>
          </a:solidFill>
          <a:ln w="12700">
            <a:solidFill>
              <a:srgbClr val="CBD5E1"/>
            </a:solidFill>
            <a:prstDash val="solid"/>
          </a:ln>
        </p:spPr>
      </p:sp>
      <p:sp>
        <p:nvSpPr>
          <p:cNvPr id="7" name="Text 5"/>
          <p:cNvSpPr/>
          <p:nvPr/>
        </p:nvSpPr>
        <p:spPr>
          <a:xfrm>
            <a:off x="731520" y="1234440"/>
            <a:ext cx="2560320" cy="114300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Introduction</a:t>
            </a:r>
            <a:endParaRPr lang="en-US" sz="1400" dirty="0"/>
          </a:p>
        </p:txBody>
      </p:sp>
      <p:sp>
        <p:nvSpPr>
          <p:cNvPr id="8" name="Text 6"/>
          <p:cNvSpPr/>
          <p:nvPr/>
        </p:nvSpPr>
        <p:spPr>
          <a:xfrm>
            <a:off x="3474720" y="1234440"/>
            <a:ext cx="7955280" cy="114300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A modern, full-stack web application that allows job seekers to dynamically build, customize, and export ATS-friendly professional resumes in real-time, while providing recruiters a dedicated portal to search, filter, and discover prospective candidates.</a:t>
            </a:r>
            <a:endParaRPr lang="en-US" sz="1150" dirty="0"/>
          </a:p>
        </p:txBody>
      </p:sp>
      <p:sp>
        <p:nvSpPr>
          <p:cNvPr id="9" name="Shape 7"/>
          <p:cNvSpPr/>
          <p:nvPr/>
        </p:nvSpPr>
        <p:spPr>
          <a:xfrm>
            <a:off x="457200" y="2743200"/>
            <a:ext cx="11274552" cy="1417320"/>
          </a:xfrm>
          <a:prstGeom prst="roundRect">
            <a:avLst/>
          </a:prstGeom>
          <a:solidFill>
            <a:srgbClr val="EDF2F9"/>
          </a:solidFill>
          <a:ln w="12700">
            <a:solidFill>
              <a:srgbClr val="CBD5E1"/>
            </a:solidFill>
            <a:prstDash val="solid"/>
          </a:ln>
        </p:spPr>
      </p:sp>
      <p:sp>
        <p:nvSpPr>
          <p:cNvPr id="10" name="Text 8"/>
          <p:cNvSpPr/>
          <p:nvPr/>
        </p:nvSpPr>
        <p:spPr>
          <a:xfrm>
            <a:off x="731520" y="2880360"/>
            <a:ext cx="2560320" cy="114300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Problem addressed</a:t>
            </a:r>
            <a:endParaRPr lang="en-US" sz="1400" dirty="0"/>
          </a:p>
        </p:txBody>
      </p:sp>
      <p:sp>
        <p:nvSpPr>
          <p:cNvPr id="11" name="Text 9"/>
          <p:cNvSpPr/>
          <p:nvPr/>
        </p:nvSpPr>
        <p:spPr>
          <a:xfrm>
            <a:off x="3474720" y="2880360"/>
            <a:ext cx="7955280" cy="114300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Most traditional resume tools produce complex graphic formats that fail Applicant Tracking System (ATS) parsers, charge hidden subscription fees, lack instant multi-template customization, and offer no bridge connecting job seekers directly to hiring recruiters.</a:t>
            </a:r>
            <a:endParaRPr lang="en-US" sz="1150" dirty="0"/>
          </a:p>
        </p:txBody>
      </p:sp>
      <p:sp>
        <p:nvSpPr>
          <p:cNvPr id="12" name="Shape 10"/>
          <p:cNvSpPr/>
          <p:nvPr/>
        </p:nvSpPr>
        <p:spPr>
          <a:xfrm>
            <a:off x="457200" y="4389120"/>
            <a:ext cx="11274552" cy="1417320"/>
          </a:xfrm>
          <a:prstGeom prst="roundRect">
            <a:avLst/>
          </a:prstGeom>
          <a:solidFill>
            <a:srgbClr val="EDF2F9"/>
          </a:solidFill>
          <a:ln w="12700">
            <a:solidFill>
              <a:srgbClr val="CBD5E1"/>
            </a:solidFill>
            <a:prstDash val="solid"/>
          </a:ln>
        </p:spPr>
      </p:sp>
      <p:sp>
        <p:nvSpPr>
          <p:cNvPr id="13" name="Text 11"/>
          <p:cNvSpPr/>
          <p:nvPr/>
        </p:nvSpPr>
        <p:spPr>
          <a:xfrm>
            <a:off x="731520" y="4526280"/>
            <a:ext cx="2560320" cy="114300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Purpose</a:t>
            </a:r>
            <a:endParaRPr lang="en-US" sz="1400" dirty="0"/>
          </a:p>
        </p:txBody>
      </p:sp>
      <p:sp>
        <p:nvSpPr>
          <p:cNvPr id="14" name="Text 12"/>
          <p:cNvSpPr/>
          <p:nvPr/>
        </p:nvSpPr>
        <p:spPr>
          <a:xfrm>
            <a:off x="3474720" y="4526280"/>
            <a:ext cx="7955280" cy="114300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To streamline professional career documentation by pairing a live interactive builder with 6+ industry-tailored ATS templates, secure JWT authentication, and a dual-role recruiter marketplace that increases candidate visibility and hiring efficiency.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02</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PROBLEM STATEMENT</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097280"/>
            <a:ext cx="11274552" cy="1417320"/>
          </a:xfrm>
          <a:prstGeom prst="roundRect">
            <a:avLst/>
          </a:prstGeom>
          <a:solidFill>
            <a:srgbClr val="EDF2F9"/>
          </a:solidFill>
          <a:ln w="12700">
            <a:solidFill>
              <a:srgbClr val="CBD5E1"/>
            </a:solidFill>
            <a:prstDash val="solid"/>
          </a:ln>
        </p:spPr>
      </p:sp>
      <p:sp>
        <p:nvSpPr>
          <p:cNvPr id="7" name="Text 5"/>
          <p:cNvSpPr/>
          <p:nvPr/>
        </p:nvSpPr>
        <p:spPr>
          <a:xfrm>
            <a:off x="731520" y="1234440"/>
            <a:ext cx="2560320" cy="114300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Existing problem</a:t>
            </a:r>
            <a:endParaRPr lang="en-US" sz="1400" dirty="0"/>
          </a:p>
        </p:txBody>
      </p:sp>
      <p:sp>
        <p:nvSpPr>
          <p:cNvPr id="8" name="Text 6"/>
          <p:cNvSpPr/>
          <p:nvPr/>
        </p:nvSpPr>
        <p:spPr>
          <a:xfrm>
            <a:off x="3474720" y="1234440"/>
            <a:ext cx="7955280" cy="114300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Job seekers struggle to format clean, standardized resumes across various devices. Manual formatting in word processors is time-consuming, prone to margin misalignment, and often unreadable by automated ATS screening software used by top employers.</a:t>
            </a:r>
            <a:endParaRPr lang="en-US" sz="1150" dirty="0"/>
          </a:p>
        </p:txBody>
      </p:sp>
      <p:sp>
        <p:nvSpPr>
          <p:cNvPr id="9" name="Shape 7"/>
          <p:cNvSpPr/>
          <p:nvPr/>
        </p:nvSpPr>
        <p:spPr>
          <a:xfrm>
            <a:off x="457200" y="2743200"/>
            <a:ext cx="11274552" cy="1417320"/>
          </a:xfrm>
          <a:prstGeom prst="roundRect">
            <a:avLst/>
          </a:prstGeom>
          <a:solidFill>
            <a:srgbClr val="EDF2F9"/>
          </a:solidFill>
          <a:ln w="12700">
            <a:solidFill>
              <a:srgbClr val="CBD5E1"/>
            </a:solidFill>
            <a:prstDash val="solid"/>
          </a:ln>
        </p:spPr>
      </p:sp>
      <p:sp>
        <p:nvSpPr>
          <p:cNvPr id="10" name="Text 8"/>
          <p:cNvSpPr/>
          <p:nvPr/>
        </p:nvSpPr>
        <p:spPr>
          <a:xfrm>
            <a:off x="731520" y="2880360"/>
            <a:ext cx="2560320" cy="114300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Limitations of current approach</a:t>
            </a:r>
            <a:endParaRPr lang="en-US" sz="1400" dirty="0"/>
          </a:p>
        </p:txBody>
      </p:sp>
      <p:sp>
        <p:nvSpPr>
          <p:cNvPr id="11" name="Text 9"/>
          <p:cNvSpPr/>
          <p:nvPr/>
        </p:nvSpPr>
        <p:spPr>
          <a:xfrm>
            <a:off x="3474720" y="2880360"/>
            <a:ext cx="7955280" cy="114300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Existing online tools enforce rigid paywalls, offer zero recruiter discovery integration, fail to provide real-time dynamic preview rendering, and lack automated schema-backed structured data persistence for one-click template switching.</a:t>
            </a:r>
            <a:endParaRPr lang="en-US" sz="1150" dirty="0"/>
          </a:p>
        </p:txBody>
      </p:sp>
      <p:sp>
        <p:nvSpPr>
          <p:cNvPr id="12" name="Shape 10"/>
          <p:cNvSpPr/>
          <p:nvPr/>
        </p:nvSpPr>
        <p:spPr>
          <a:xfrm>
            <a:off x="457200" y="4389120"/>
            <a:ext cx="11274552" cy="1417320"/>
          </a:xfrm>
          <a:prstGeom prst="roundRect">
            <a:avLst/>
          </a:prstGeom>
          <a:solidFill>
            <a:srgbClr val="EDF2F9"/>
          </a:solidFill>
          <a:ln w="12700">
            <a:solidFill>
              <a:srgbClr val="CBD5E1"/>
            </a:solidFill>
            <a:prstDash val="solid"/>
          </a:ln>
        </p:spPr>
      </p:sp>
      <p:sp>
        <p:nvSpPr>
          <p:cNvPr id="13" name="Text 11"/>
          <p:cNvSpPr/>
          <p:nvPr/>
        </p:nvSpPr>
        <p:spPr>
          <a:xfrm>
            <a:off x="731520" y="4526280"/>
            <a:ext cx="2560320" cy="114300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Why this project is required</a:t>
            </a:r>
            <a:endParaRPr lang="en-US" sz="1400" dirty="0"/>
          </a:p>
        </p:txBody>
      </p:sp>
      <p:sp>
        <p:nvSpPr>
          <p:cNvPr id="14" name="Text 12"/>
          <p:cNvSpPr/>
          <p:nvPr/>
        </p:nvSpPr>
        <p:spPr>
          <a:xfrm>
            <a:off x="3474720" y="4526280"/>
            <a:ext cx="7955280" cy="114300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Bridging the talent-recruiter gap with an open, modern platform featuring instant live previews, multi-format exports (PDF, JSON, Print), robust REST APIs, secure role-based access, and direct recruiter candidate search.</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03</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OBJECTIVES</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097280"/>
            <a:ext cx="5440680" cy="5029200"/>
          </a:xfrm>
          <a:prstGeom prst="roundRect">
            <a:avLst/>
          </a:prstGeom>
          <a:solidFill>
            <a:srgbClr val="EDF2F9"/>
          </a:solidFill>
          <a:ln w="12700">
            <a:solidFill>
              <a:srgbClr val="CBD5E1"/>
            </a:solidFill>
            <a:prstDash val="solid"/>
          </a:ln>
        </p:spPr>
      </p:sp>
      <p:sp>
        <p:nvSpPr>
          <p:cNvPr id="7" name="Text 5"/>
          <p:cNvSpPr/>
          <p:nvPr/>
        </p:nvSpPr>
        <p:spPr>
          <a:xfrm>
            <a:off x="731520" y="1371600"/>
            <a:ext cx="4846320" cy="365760"/>
          </a:xfrm>
          <a:prstGeom prst="rect">
            <a:avLst/>
          </a:prstGeom>
          <a:noFill/>
          <a:ln/>
        </p:spPr>
        <p:txBody>
          <a:bodyPr wrap="square" rtlCol="0" anchor="ctr"/>
          <a:lstStyle/>
          <a:p>
            <a:pPr indent="0" marL="0">
              <a:buNone/>
            </a:pPr>
            <a:r>
              <a:rPr lang="en-US" sz="1600" b="1" dirty="0">
                <a:solidFill>
                  <a:srgbClr val="18224B"/>
                </a:solidFill>
                <a:latin typeface="Arial" pitchFamily="34" charset="0"/>
                <a:ea typeface="Arial" pitchFamily="34" charset="-122"/>
                <a:cs typeface="Arial" pitchFamily="34" charset="-120"/>
              </a:rPr>
              <a:t>Key objectives</a:t>
            </a:r>
            <a:endParaRPr lang="en-US" sz="1600" dirty="0"/>
          </a:p>
        </p:txBody>
      </p:sp>
      <p:sp>
        <p:nvSpPr>
          <p:cNvPr id="8" name="Text 6"/>
          <p:cNvSpPr/>
          <p:nvPr/>
        </p:nvSpPr>
        <p:spPr>
          <a:xfrm>
            <a:off x="731520" y="1920240"/>
            <a:ext cx="4846320" cy="3931920"/>
          </a:xfrm>
          <a:prstGeom prst="rect">
            <a:avLst/>
          </a:prstGeom>
          <a:noFill/>
          <a:ln/>
        </p:spPr>
        <p:txBody>
          <a:bodyPr wrap="square" rtlCol="0" anchor="ctr"/>
          <a:lstStyle/>
          <a:p>
            <a:pPr marL="342900" indent="-342900">
              <a:buSzPct val="100000"/>
              <a:buChar char="•"/>
            </a:pPr>
            <a:r>
              <a:rPr lang="en-US" sz="1200" dirty="0">
                <a:solidFill>
                  <a:srgbClr val="1E293B"/>
                </a:solidFill>
                <a:latin typeface="Arial" pitchFamily="34" charset="0"/>
                <a:ea typeface="Arial" pitchFamily="34" charset="-122"/>
                <a:cs typeface="Arial" pitchFamily="34" charset="-120"/>
              </a:rPr>
              <a:t>Develop an interactive, reactive UI with live preview and instant template switching.</a:t>
            </a:r>
            <a:endParaRPr lang="en-US" sz="1200" dirty="0"/>
          </a:p>
          <a:p>
            <a:pPr marL="342900" indent="-342900">
              <a:buSzPct val="100000"/>
              <a:buChar char="•"/>
            </a:pPr>
            <a:r>
              <a:rPr lang="en-US" sz="1200" dirty="0">
                <a:solidFill>
                  <a:srgbClr val="1E293B"/>
                </a:solidFill>
                <a:latin typeface="Arial" pitchFamily="34" charset="0"/>
                <a:ea typeface="Arial" pitchFamily="34" charset="-122"/>
                <a:cs typeface="Arial" pitchFamily="34" charset="-120"/>
              </a:rPr>
              <a:t>Implement secure JWT-based stateless authentication with Role-Based Access Control (Job Seeker / Recruiter).</a:t>
            </a:r>
            <a:endParaRPr lang="en-US" sz="1200" dirty="0"/>
          </a:p>
          <a:p>
            <a:pPr marL="342900" indent="-342900">
              <a:buSzPct val="100000"/>
              <a:buChar char="•"/>
            </a:pPr>
            <a:r>
              <a:rPr lang="en-US" sz="1200" dirty="0">
                <a:solidFill>
                  <a:srgbClr val="1E293B"/>
                </a:solidFill>
                <a:latin typeface="Arial" pitchFamily="34" charset="0"/>
                <a:ea typeface="Arial" pitchFamily="34" charset="-122"/>
                <a:cs typeface="Arial" pitchFamily="34" charset="-120"/>
              </a:rPr>
              <a:t>Design normalized MySQL relational schema for comprehensive resume data modeling (Educations, Experiences, Skills, References).</a:t>
            </a:r>
            <a:endParaRPr lang="en-US" sz="1200" dirty="0"/>
          </a:p>
          <a:p>
            <a:pPr marL="342900" indent="-342900">
              <a:buSzPct val="100000"/>
              <a:buChar char="•"/>
            </a:pPr>
            <a:r>
              <a:rPr lang="en-US" sz="1200" dirty="0">
                <a:solidFill>
                  <a:srgbClr val="1E293B"/>
                </a:solidFill>
                <a:latin typeface="Arial" pitchFamily="34" charset="0"/>
                <a:ea typeface="Arial" pitchFamily="34" charset="-122"/>
                <a:cs typeface="Arial" pitchFamily="34" charset="-120"/>
              </a:rPr>
              <a:t>Create dual-ecosystem features: PDF/JSON export engine and searchable recruiter talent database.</a:t>
            </a:r>
            <a:endParaRPr lang="en-US" sz="1200" dirty="0"/>
          </a:p>
        </p:txBody>
      </p:sp>
      <p:sp>
        <p:nvSpPr>
          <p:cNvPr id="9" name="Shape 7"/>
          <p:cNvSpPr/>
          <p:nvPr/>
        </p:nvSpPr>
        <p:spPr>
          <a:xfrm>
            <a:off x="6263640" y="1097280"/>
            <a:ext cx="5440680" cy="5029200"/>
          </a:xfrm>
          <a:prstGeom prst="roundRect">
            <a:avLst/>
          </a:prstGeom>
          <a:solidFill>
            <a:srgbClr val="EDF2F9"/>
          </a:solidFill>
          <a:ln w="12700">
            <a:solidFill>
              <a:srgbClr val="CBD5E1"/>
            </a:solidFill>
            <a:prstDash val="solid"/>
          </a:ln>
        </p:spPr>
      </p:sp>
      <p:sp>
        <p:nvSpPr>
          <p:cNvPr id="10" name="Text 8"/>
          <p:cNvSpPr/>
          <p:nvPr/>
        </p:nvSpPr>
        <p:spPr>
          <a:xfrm>
            <a:off x="6537960" y="1371600"/>
            <a:ext cx="4846320" cy="365760"/>
          </a:xfrm>
          <a:prstGeom prst="rect">
            <a:avLst/>
          </a:prstGeom>
          <a:noFill/>
          <a:ln/>
        </p:spPr>
        <p:txBody>
          <a:bodyPr wrap="square" rtlCol="0" anchor="ctr"/>
          <a:lstStyle/>
          <a:p>
            <a:pPr indent="0" marL="0">
              <a:buNone/>
            </a:pPr>
            <a:r>
              <a:rPr lang="en-US" sz="1600" b="1" dirty="0">
                <a:solidFill>
                  <a:srgbClr val="18224B"/>
                </a:solidFill>
                <a:latin typeface="Arial" pitchFamily="34" charset="0"/>
                <a:ea typeface="Arial" pitchFamily="34" charset="-122"/>
                <a:cs typeface="Arial" pitchFamily="34" charset="-120"/>
              </a:rPr>
              <a:t>Expected outcomes</a:t>
            </a:r>
            <a:endParaRPr lang="en-US" sz="1600" dirty="0"/>
          </a:p>
        </p:txBody>
      </p:sp>
      <p:sp>
        <p:nvSpPr>
          <p:cNvPr id="11" name="Text 9"/>
          <p:cNvSpPr/>
          <p:nvPr/>
        </p:nvSpPr>
        <p:spPr>
          <a:xfrm>
            <a:off x="6537960" y="1920240"/>
            <a:ext cx="4846320" cy="3931920"/>
          </a:xfrm>
          <a:prstGeom prst="rect">
            <a:avLst/>
          </a:prstGeom>
          <a:noFill/>
          <a:ln/>
        </p:spPr>
        <p:txBody>
          <a:bodyPr wrap="square" rtlCol="0" anchor="ctr"/>
          <a:lstStyle/>
          <a:p>
            <a:pPr marL="342900" indent="-342900">
              <a:buSzPct val="100000"/>
              <a:buChar char="•"/>
            </a:pPr>
            <a:r>
              <a:rPr lang="en-US" sz="1200" dirty="0">
                <a:solidFill>
                  <a:srgbClr val="1E293B"/>
                </a:solidFill>
                <a:latin typeface="Arial" pitchFamily="34" charset="0"/>
                <a:ea typeface="Arial" pitchFamily="34" charset="-122"/>
                <a:cs typeface="Arial" pitchFamily="34" charset="-120"/>
              </a:rPr>
              <a:t>Sub-second live rendering of formatted resumes across 6+ ATS standard templates.</a:t>
            </a:r>
            <a:endParaRPr lang="en-US" sz="1200" dirty="0"/>
          </a:p>
          <a:p>
            <a:pPr marL="342900" indent="-342900">
              <a:buSzPct val="100000"/>
              <a:buChar char="•"/>
            </a:pPr>
            <a:r>
              <a:rPr lang="en-US" sz="1200" dirty="0">
                <a:solidFill>
                  <a:srgbClr val="1E293B"/>
                </a:solidFill>
                <a:latin typeface="Arial" pitchFamily="34" charset="0"/>
                <a:ea typeface="Arial" pitchFamily="34" charset="-122"/>
                <a:cs typeface="Arial" pitchFamily="34" charset="-120"/>
              </a:rPr>
              <a:t>Zero data loss with automated draft persistence and relational cascade updates.</a:t>
            </a:r>
            <a:endParaRPr lang="en-US" sz="1200" dirty="0"/>
          </a:p>
          <a:p>
            <a:pPr marL="342900" indent="-342900">
              <a:buSzPct val="100000"/>
              <a:buChar char="•"/>
            </a:pPr>
            <a:r>
              <a:rPr lang="en-US" sz="1200" dirty="0">
                <a:solidFill>
                  <a:srgbClr val="1E293B"/>
                </a:solidFill>
                <a:latin typeface="Arial" pitchFamily="34" charset="0"/>
                <a:ea typeface="Arial" pitchFamily="34" charset="-122"/>
                <a:cs typeface="Arial" pitchFamily="34" charset="-120"/>
              </a:rPr>
              <a:t>Production-ready PDF printing and JSON data import/export for resume mobility.</a:t>
            </a:r>
            <a:endParaRPr lang="en-US" sz="1200" dirty="0"/>
          </a:p>
          <a:p>
            <a:pPr marL="342900" indent="-342900">
              <a:buSzPct val="100000"/>
              <a:buChar char="•"/>
            </a:pPr>
            <a:r>
              <a:rPr lang="en-US" sz="1200" dirty="0">
                <a:solidFill>
                  <a:srgbClr val="1E293B"/>
                </a:solidFill>
                <a:latin typeface="Arial" pitchFamily="34" charset="0"/>
                <a:ea typeface="Arial" pitchFamily="34" charset="-122"/>
                <a:cs typeface="Arial" pitchFamily="34" charset="-120"/>
              </a:rPr>
              <a:t>Seamless candidate discovery for recruiters through real-time keyword, skill, and location filters.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04</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PROPOSED SOLUTION</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Text 4"/>
          <p:cNvSpPr/>
          <p:nvPr/>
        </p:nvSpPr>
        <p:spPr>
          <a:xfrm>
            <a:off x="457200" y="1097280"/>
            <a:ext cx="5303520" cy="32004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How it works</a:t>
            </a:r>
            <a:endParaRPr lang="en-US" sz="1400" dirty="0"/>
          </a:p>
        </p:txBody>
      </p:sp>
      <p:sp>
        <p:nvSpPr>
          <p:cNvPr id="7" name="Text 5"/>
          <p:cNvSpPr/>
          <p:nvPr/>
        </p:nvSpPr>
        <p:spPr>
          <a:xfrm>
            <a:off x="457200" y="1463040"/>
            <a:ext cx="5303520" cy="164592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Users authenticate via JWT security, fill structured modular sections (Contact, Summary, Experience, Education, Skills, Languages, References), and witness immediate real-time side-by-side rendering with instant PDF generation and template styling.</a:t>
            </a:r>
            <a:endParaRPr lang="en-US" sz="1150" dirty="0"/>
          </a:p>
        </p:txBody>
      </p:sp>
      <p:sp>
        <p:nvSpPr>
          <p:cNvPr id="8" name="Text 6"/>
          <p:cNvSpPr/>
          <p:nvPr/>
        </p:nvSpPr>
        <p:spPr>
          <a:xfrm>
            <a:off x="457200" y="3291840"/>
            <a:ext cx="5303520" cy="32004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Why this solves the problem</a:t>
            </a:r>
            <a:endParaRPr lang="en-US" sz="1400" dirty="0"/>
          </a:p>
        </p:txBody>
      </p:sp>
      <p:sp>
        <p:nvSpPr>
          <p:cNvPr id="9" name="Text 7"/>
          <p:cNvSpPr/>
          <p:nvPr/>
        </p:nvSpPr>
        <p:spPr>
          <a:xfrm>
            <a:off x="457200" y="3657600"/>
            <a:ext cx="5303520" cy="2011680"/>
          </a:xfrm>
          <a:prstGeom prst="rect">
            <a:avLst/>
          </a:prstGeom>
          <a:noFill/>
          <a:ln/>
        </p:spPr>
        <p:txBody>
          <a:bodyPr wrap="square" rtlCol="0" anchor="ctr"/>
          <a:lstStyle/>
          <a:p>
            <a:pPr indent="0" marL="0">
              <a:buNone/>
            </a:pPr>
            <a:r>
              <a:rPr lang="en-US" sz="1150" dirty="0">
                <a:solidFill>
                  <a:srgbClr val="1E293B"/>
                </a:solidFill>
                <a:latin typeface="Arial" pitchFamily="34" charset="0"/>
                <a:ea typeface="Arial" pitchFamily="34" charset="-122"/>
                <a:cs typeface="Arial" pitchFamily="34" charset="-120"/>
              </a:rPr>
              <a:t>Eliminates formatting headaches, enforces ATS compliance standards, ensures high readability, preserves data in a structured relational database, and bridges job seekers directly to employers with an integrated recruiter discovery engine.</a:t>
            </a:r>
            <a:endParaRPr lang="en-US" sz="1150" dirty="0"/>
          </a:p>
        </p:txBody>
      </p:sp>
      <p:sp>
        <p:nvSpPr>
          <p:cNvPr id="10" name="Shape 8"/>
          <p:cNvSpPr/>
          <p:nvPr/>
        </p:nvSpPr>
        <p:spPr>
          <a:xfrm>
            <a:off x="6217920" y="1005840"/>
            <a:ext cx="5486400" cy="5120640"/>
          </a:xfrm>
          <a:prstGeom prst="roundRect">
            <a:avLst/>
          </a:prstGeom>
          <a:solidFill>
            <a:srgbClr val="EDF2F9"/>
          </a:solidFill>
          <a:ln w="12700">
            <a:solidFill>
              <a:srgbClr val="CBD5E1"/>
            </a:solidFill>
            <a:prstDash val="solid"/>
          </a:ln>
        </p:spPr>
      </p:sp>
      <p:sp>
        <p:nvSpPr>
          <p:cNvPr id="11" name="Text 9"/>
          <p:cNvSpPr/>
          <p:nvPr/>
        </p:nvSpPr>
        <p:spPr>
          <a:xfrm>
            <a:off x="6492240" y="1188720"/>
            <a:ext cx="4937760" cy="365760"/>
          </a:xfrm>
          <a:prstGeom prst="rect">
            <a:avLst/>
          </a:prstGeom>
          <a:noFill/>
          <a:ln/>
        </p:spPr>
        <p:txBody>
          <a:bodyPr wrap="square" rtlCol="0" anchor="ctr"/>
          <a:lstStyle/>
          <a:p>
            <a:pPr indent="0" marL="0">
              <a:buNone/>
            </a:pPr>
            <a:r>
              <a:rPr lang="en-US" sz="1600" b="1" dirty="0">
                <a:solidFill>
                  <a:srgbClr val="18224B"/>
                </a:solidFill>
                <a:latin typeface="Arial" pitchFamily="34" charset="0"/>
                <a:ea typeface="Arial" pitchFamily="34" charset="-122"/>
                <a:cs typeface="Arial" pitchFamily="34" charset="-120"/>
              </a:rPr>
              <a:t>Major features</a:t>
            </a:r>
            <a:endParaRPr lang="en-US" sz="1600" dirty="0"/>
          </a:p>
        </p:txBody>
      </p:sp>
      <p:sp>
        <p:nvSpPr>
          <p:cNvPr id="12" name="Text 10"/>
          <p:cNvSpPr/>
          <p:nvPr/>
        </p:nvSpPr>
        <p:spPr>
          <a:xfrm>
            <a:off x="6492240" y="1645920"/>
            <a:ext cx="4937760" cy="4206240"/>
          </a:xfrm>
          <a:prstGeom prst="rect">
            <a:avLst/>
          </a:prstGeom>
          <a:noFill/>
          <a:ln/>
        </p:spPr>
        <p:txBody>
          <a:bodyPr wrap="square" rtlCol="0" anchor="ctr"/>
          <a:lstStyle/>
          <a:p>
            <a:pPr marL="342900" indent="-342900">
              <a:buSzPct val="100000"/>
              <a:buChar char="•"/>
            </a:pPr>
            <a:r>
              <a:rPr lang="en-US" sz="1150" dirty="0">
                <a:solidFill>
                  <a:srgbClr val="1E293B"/>
                </a:solidFill>
                <a:latin typeface="Arial" pitchFamily="34" charset="0"/>
                <a:ea typeface="Arial" pitchFamily="34" charset="-122"/>
                <a:cs typeface="Arial" pitchFamily="34" charset="-120"/>
              </a:rPr>
              <a:t>Dynamic Real-Time Live Preview &amp; Instant Switcher (6 ATS Templates)</a:t>
            </a:r>
            <a:endParaRPr lang="en-US" sz="1150" dirty="0"/>
          </a:p>
          <a:p>
            <a:pPr marL="342900" indent="-342900">
              <a:buSzPct val="100000"/>
              <a:buChar char="•"/>
            </a:pPr>
            <a:r>
              <a:rPr lang="en-US" sz="1150" dirty="0">
                <a:solidFill>
                  <a:srgbClr val="1E293B"/>
                </a:solidFill>
                <a:latin typeface="Arial" pitchFamily="34" charset="0"/>
                <a:ea typeface="Arial" pitchFamily="34" charset="-122"/>
                <a:cs typeface="Arial" pitchFamily="34" charset="-120"/>
              </a:rPr>
              <a:t>Multi-Section Structured Form Builder with dynamic rows &amp; ordering</a:t>
            </a:r>
            <a:endParaRPr lang="en-US" sz="1150" dirty="0"/>
          </a:p>
          <a:p>
            <a:pPr marL="342900" indent="-342900">
              <a:buSzPct val="100000"/>
              <a:buChar char="•"/>
            </a:pPr>
            <a:r>
              <a:rPr lang="en-US" sz="1150" dirty="0">
                <a:solidFill>
                  <a:srgbClr val="1E293B"/>
                </a:solidFill>
                <a:latin typeface="Arial" pitchFamily="34" charset="0"/>
                <a:ea typeface="Arial" pitchFamily="34" charset="-122"/>
                <a:cs typeface="Arial" pitchFamily="34" charset="-120"/>
              </a:rPr>
              <a:t>Recruiter Search Engine with talent filtering (Skill, Title, Location)</a:t>
            </a:r>
            <a:endParaRPr lang="en-US" sz="1150" dirty="0"/>
          </a:p>
          <a:p>
            <a:pPr marL="342900" indent="-342900">
              <a:buSzPct val="100000"/>
              <a:buChar char="•"/>
            </a:pPr>
            <a:r>
              <a:rPr lang="en-US" sz="1150" dirty="0">
                <a:solidFill>
                  <a:srgbClr val="1E293B"/>
                </a:solidFill>
                <a:latin typeface="Arial" pitchFamily="34" charset="0"/>
                <a:ea typeface="Arial" pitchFamily="34" charset="-122"/>
                <a:cs typeface="Arial" pitchFamily="34" charset="-120"/>
              </a:rPr>
              <a:t>Multi-Format Exporting: High-Res PDF Print, Clean CSS Print, JSON Backup</a:t>
            </a:r>
            <a:endParaRPr lang="en-US" sz="1150" dirty="0"/>
          </a:p>
          <a:p>
            <a:pPr marL="342900" indent="-342900">
              <a:buSzPct val="100000"/>
              <a:buChar char="•"/>
            </a:pPr>
            <a:r>
              <a:rPr lang="en-US" sz="1150" dirty="0">
                <a:solidFill>
                  <a:srgbClr val="1E293B"/>
                </a:solidFill>
                <a:latin typeface="Arial" pitchFamily="34" charset="0"/>
                <a:ea typeface="Arial" pitchFamily="34" charset="-122"/>
                <a:cs typeface="Arial" pitchFamily="34" charset="-120"/>
              </a:rPr>
              <a:t>Full-Stack Security: Stateless JWT, Spring Security 6 &amp; BCrypt Password Hashing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05</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TECHNOLOGY STACK</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097280"/>
            <a:ext cx="3611880" cy="2377440"/>
          </a:xfrm>
          <a:prstGeom prst="roundRect">
            <a:avLst/>
          </a:prstGeom>
          <a:solidFill>
            <a:srgbClr val="EDF2F9"/>
          </a:solidFill>
          <a:ln w="12700">
            <a:solidFill>
              <a:srgbClr val="CBD5E1"/>
            </a:solidFill>
            <a:prstDash val="solid"/>
          </a:ln>
        </p:spPr>
      </p:sp>
      <p:sp>
        <p:nvSpPr>
          <p:cNvPr id="7" name="Text 5"/>
          <p:cNvSpPr/>
          <p:nvPr/>
        </p:nvSpPr>
        <p:spPr>
          <a:xfrm>
            <a:off x="640080" y="1234440"/>
            <a:ext cx="324612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Frontend</a:t>
            </a:r>
            <a:endParaRPr lang="en-US" sz="1300" dirty="0"/>
          </a:p>
        </p:txBody>
      </p:sp>
      <p:sp>
        <p:nvSpPr>
          <p:cNvPr id="8" name="Text 6"/>
          <p:cNvSpPr/>
          <p:nvPr/>
        </p:nvSpPr>
        <p:spPr>
          <a:xfrm>
            <a:off x="640080" y="1600200"/>
            <a:ext cx="3246120" cy="173736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React 18.2 (Hooks, State)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React Router DOM v6</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Context API (AuthContext)</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Axios HTTP Client</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Vanilla CSS Design System</a:t>
            </a:r>
            <a:endParaRPr lang="en-US" sz="1000" dirty="0"/>
          </a:p>
        </p:txBody>
      </p:sp>
      <p:sp>
        <p:nvSpPr>
          <p:cNvPr id="9" name="Shape 7"/>
          <p:cNvSpPr/>
          <p:nvPr/>
        </p:nvSpPr>
        <p:spPr>
          <a:xfrm>
            <a:off x="4297680" y="1097280"/>
            <a:ext cx="3611880" cy="2377440"/>
          </a:xfrm>
          <a:prstGeom prst="roundRect">
            <a:avLst/>
          </a:prstGeom>
          <a:solidFill>
            <a:srgbClr val="EDF2F9"/>
          </a:solidFill>
          <a:ln w="12700">
            <a:solidFill>
              <a:srgbClr val="CBD5E1"/>
            </a:solidFill>
            <a:prstDash val="solid"/>
          </a:ln>
        </p:spPr>
      </p:sp>
      <p:sp>
        <p:nvSpPr>
          <p:cNvPr id="10" name="Text 8"/>
          <p:cNvSpPr/>
          <p:nvPr/>
        </p:nvSpPr>
        <p:spPr>
          <a:xfrm>
            <a:off x="4480560" y="1234440"/>
            <a:ext cx="324612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Backend</a:t>
            </a:r>
            <a:endParaRPr lang="en-US" sz="1300" dirty="0"/>
          </a:p>
        </p:txBody>
      </p:sp>
      <p:sp>
        <p:nvSpPr>
          <p:cNvPr id="11" name="Text 9"/>
          <p:cNvSpPr/>
          <p:nvPr/>
        </p:nvSpPr>
        <p:spPr>
          <a:xfrm>
            <a:off x="4480560" y="1600200"/>
            <a:ext cx="3246120" cy="173736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Java 17 LTS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Spring Boot 3.3.4 REST API</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Spring Data JPA &amp; Hibernate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Spring Security 6</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JJWT 0.11.5 (JSON Web Tokens)</a:t>
            </a:r>
            <a:endParaRPr lang="en-US" sz="1000" dirty="0"/>
          </a:p>
        </p:txBody>
      </p:sp>
      <p:sp>
        <p:nvSpPr>
          <p:cNvPr id="12" name="Shape 10"/>
          <p:cNvSpPr/>
          <p:nvPr/>
        </p:nvSpPr>
        <p:spPr>
          <a:xfrm>
            <a:off x="8138160" y="1097280"/>
            <a:ext cx="3611880" cy="2377440"/>
          </a:xfrm>
          <a:prstGeom prst="roundRect">
            <a:avLst/>
          </a:prstGeom>
          <a:solidFill>
            <a:srgbClr val="EDF2F9"/>
          </a:solidFill>
          <a:ln w="12700">
            <a:solidFill>
              <a:srgbClr val="CBD5E1"/>
            </a:solidFill>
            <a:prstDash val="solid"/>
          </a:ln>
        </p:spPr>
      </p:sp>
      <p:sp>
        <p:nvSpPr>
          <p:cNvPr id="13" name="Text 11"/>
          <p:cNvSpPr/>
          <p:nvPr/>
        </p:nvSpPr>
        <p:spPr>
          <a:xfrm>
            <a:off x="8321040" y="1234440"/>
            <a:ext cx="324612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Database</a:t>
            </a:r>
            <a:endParaRPr lang="en-US" sz="1300" dirty="0"/>
          </a:p>
        </p:txBody>
      </p:sp>
      <p:sp>
        <p:nvSpPr>
          <p:cNvPr id="14" name="Text 12"/>
          <p:cNvSpPr/>
          <p:nvPr/>
        </p:nvSpPr>
        <p:spPr>
          <a:xfrm>
            <a:off x="8321040" y="1600200"/>
            <a:ext cx="3246120" cy="173736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MySQL 8.0 Server</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InnoDB Relational Engine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MySQL Workbench</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Hibernate DDL Auto-Update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Foreign Key Cascade Constraints</a:t>
            </a:r>
            <a:endParaRPr lang="en-US" sz="1000" dirty="0"/>
          </a:p>
        </p:txBody>
      </p:sp>
      <p:sp>
        <p:nvSpPr>
          <p:cNvPr id="15" name="Shape 13"/>
          <p:cNvSpPr/>
          <p:nvPr/>
        </p:nvSpPr>
        <p:spPr>
          <a:xfrm>
            <a:off x="457200" y="3657600"/>
            <a:ext cx="3611880" cy="2377440"/>
          </a:xfrm>
          <a:prstGeom prst="roundRect">
            <a:avLst/>
          </a:prstGeom>
          <a:solidFill>
            <a:srgbClr val="EDF2F9"/>
          </a:solidFill>
          <a:ln w="12700">
            <a:solidFill>
              <a:srgbClr val="CBD5E1"/>
            </a:solidFill>
            <a:prstDash val="solid"/>
          </a:ln>
        </p:spPr>
      </p:sp>
      <p:sp>
        <p:nvSpPr>
          <p:cNvPr id="16" name="Text 14"/>
          <p:cNvSpPr/>
          <p:nvPr/>
        </p:nvSpPr>
        <p:spPr>
          <a:xfrm>
            <a:off x="640080" y="3794760"/>
            <a:ext cx="324612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APIs / Libraries / Frameworks</a:t>
            </a:r>
            <a:endParaRPr lang="en-US" sz="1300" dirty="0"/>
          </a:p>
        </p:txBody>
      </p:sp>
      <p:sp>
        <p:nvSpPr>
          <p:cNvPr id="17" name="Text 15"/>
          <p:cNvSpPr/>
          <p:nvPr/>
        </p:nvSpPr>
        <p:spPr>
          <a:xfrm>
            <a:off x="640080" y="4160520"/>
            <a:ext cx="3246120" cy="173736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RESTful API Architecture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Jackson JSON &amp; JSR-310</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Jakarta Bean Validation</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HTML-to-PDF / Browser Print Engine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Custom Toast Notification System</a:t>
            </a:r>
            <a:endParaRPr lang="en-US" sz="1000" dirty="0"/>
          </a:p>
        </p:txBody>
      </p:sp>
      <p:sp>
        <p:nvSpPr>
          <p:cNvPr id="18" name="Shape 16"/>
          <p:cNvSpPr/>
          <p:nvPr/>
        </p:nvSpPr>
        <p:spPr>
          <a:xfrm>
            <a:off x="4297680" y="3657600"/>
            <a:ext cx="3611880" cy="2377440"/>
          </a:xfrm>
          <a:prstGeom prst="roundRect">
            <a:avLst/>
          </a:prstGeom>
          <a:solidFill>
            <a:srgbClr val="EDF2F9"/>
          </a:solidFill>
          <a:ln w="12700">
            <a:solidFill>
              <a:srgbClr val="CBD5E1"/>
            </a:solidFill>
            <a:prstDash val="solid"/>
          </a:ln>
        </p:spPr>
      </p:sp>
      <p:sp>
        <p:nvSpPr>
          <p:cNvPr id="19" name="Text 17"/>
          <p:cNvSpPr/>
          <p:nvPr/>
        </p:nvSpPr>
        <p:spPr>
          <a:xfrm>
            <a:off x="4480560" y="3794760"/>
            <a:ext cx="324612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Development Tools</a:t>
            </a:r>
            <a:endParaRPr lang="en-US" sz="1300" dirty="0"/>
          </a:p>
        </p:txBody>
      </p:sp>
      <p:sp>
        <p:nvSpPr>
          <p:cNvPr id="20" name="Text 18"/>
          <p:cNvSpPr/>
          <p:nvPr/>
        </p:nvSpPr>
        <p:spPr>
          <a:xfrm>
            <a:off x="4480560" y="4160520"/>
            <a:ext cx="3246120" cy="173736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Visual Studio Code / IDE</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Apache Maven 3.9+</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Node.js &amp; NPM Ecosystem</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Postman API Tester</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Git Version Control</a:t>
            </a:r>
            <a:endParaRPr lang="en-US" sz="1000" dirty="0"/>
          </a:p>
        </p:txBody>
      </p:sp>
      <p:sp>
        <p:nvSpPr>
          <p:cNvPr id="21" name="Shape 19"/>
          <p:cNvSpPr/>
          <p:nvPr/>
        </p:nvSpPr>
        <p:spPr>
          <a:xfrm>
            <a:off x="8138160" y="3657600"/>
            <a:ext cx="3611880" cy="2377440"/>
          </a:xfrm>
          <a:prstGeom prst="roundRect">
            <a:avLst/>
          </a:prstGeom>
          <a:solidFill>
            <a:srgbClr val="EDF2F9"/>
          </a:solidFill>
          <a:ln w="12700">
            <a:solidFill>
              <a:srgbClr val="CBD5E1"/>
            </a:solidFill>
            <a:prstDash val="solid"/>
          </a:ln>
        </p:spPr>
      </p:sp>
      <p:sp>
        <p:nvSpPr>
          <p:cNvPr id="22" name="Text 20"/>
          <p:cNvSpPr/>
          <p:nvPr/>
        </p:nvSpPr>
        <p:spPr>
          <a:xfrm>
            <a:off x="8321040" y="3794760"/>
            <a:ext cx="324612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Other</a:t>
            </a:r>
            <a:endParaRPr lang="en-US" sz="1300" dirty="0"/>
          </a:p>
        </p:txBody>
      </p:sp>
      <p:sp>
        <p:nvSpPr>
          <p:cNvPr id="23" name="Text 21"/>
          <p:cNvSpPr/>
          <p:nvPr/>
        </p:nvSpPr>
        <p:spPr>
          <a:xfrm>
            <a:off x="8321040" y="4160520"/>
            <a:ext cx="3246120" cy="173736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ATS-Compliant Layout Engines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Demo Mode Fallback Handler</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BCrypt Cryptographic Hashing</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Cross-Origin Resource Sharing (CORS)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UTF-8 Multi-language Support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06</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SYSTEM ARCHITECTURE</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097280"/>
            <a:ext cx="2286000" cy="1554480"/>
          </a:xfrm>
          <a:prstGeom prst="roundRect">
            <a:avLst/>
          </a:prstGeom>
          <a:solidFill>
            <a:srgbClr val="FFFFFF"/>
          </a:solidFill>
          <a:ln w="19050">
            <a:solidFill>
              <a:srgbClr val="18224B"/>
            </a:solidFill>
            <a:prstDash val="solid"/>
          </a:ln>
        </p:spPr>
      </p:sp>
      <p:sp>
        <p:nvSpPr>
          <p:cNvPr id="7" name="Text 5"/>
          <p:cNvSpPr/>
          <p:nvPr/>
        </p:nvSpPr>
        <p:spPr>
          <a:xfrm>
            <a:off x="457200" y="1188720"/>
            <a:ext cx="2286000" cy="320040"/>
          </a:xfrm>
          <a:prstGeom prst="rect">
            <a:avLst/>
          </a:prstGeom>
          <a:noFill/>
          <a:ln/>
        </p:spPr>
        <p:txBody>
          <a:bodyPr wrap="square" rtlCol="0" anchor="ctr"/>
          <a:lstStyle/>
          <a:p>
            <a:pPr algn="ctr" indent="0" marL="0">
              <a:buNone/>
            </a:pPr>
            <a:r>
              <a:rPr lang="en-US" sz="1200" b="1" dirty="0">
                <a:solidFill>
                  <a:srgbClr val="18224B"/>
                </a:solidFill>
                <a:latin typeface="Arial" pitchFamily="34" charset="0"/>
                <a:ea typeface="Arial" pitchFamily="34" charset="-122"/>
                <a:cs typeface="Arial" pitchFamily="34" charset="-120"/>
              </a:rPr>
              <a:t>Frontend</a:t>
            </a:r>
            <a:endParaRPr lang="en-US" sz="1200" dirty="0"/>
          </a:p>
        </p:txBody>
      </p:sp>
      <p:sp>
        <p:nvSpPr>
          <p:cNvPr id="8" name="Text 6"/>
          <p:cNvSpPr/>
          <p:nvPr/>
        </p:nvSpPr>
        <p:spPr>
          <a:xfrm>
            <a:off x="548640" y="1508760"/>
            <a:ext cx="2103120" cy="1051560"/>
          </a:xfrm>
          <a:prstGeom prst="rect">
            <a:avLst/>
          </a:prstGeom>
          <a:noFill/>
          <a:ln/>
        </p:spPr>
        <p:txBody>
          <a:bodyPr wrap="square" rtlCol="0" anchor="ctr"/>
          <a:lstStyle/>
          <a:p>
            <a:pPr algn="ctr" indent="0" marL="0">
              <a:buNone/>
            </a:pPr>
            <a:r>
              <a:rPr lang="en-US" sz="900" dirty="0">
                <a:solidFill>
                  <a:srgbClr val="475569"/>
                </a:solidFill>
                <a:latin typeface="Arial" pitchFamily="34" charset="0"/>
                <a:ea typeface="Arial" pitchFamily="34" charset="-122"/>
                <a:cs typeface="Arial" pitchFamily="34" charset="-120"/>
              </a:rPr>
              <a:t>React SPA (Port 3000)</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Dynamic Builder &amp; Forms</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Live Template Engine</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Recruiter Dashboard</a:t>
            </a:r>
            <a:endParaRPr lang="en-US" sz="900" dirty="0"/>
          </a:p>
        </p:txBody>
      </p:sp>
      <p:sp>
        <p:nvSpPr>
          <p:cNvPr id="9" name="Shape 7"/>
          <p:cNvSpPr/>
          <p:nvPr/>
        </p:nvSpPr>
        <p:spPr>
          <a:xfrm>
            <a:off x="2788920" y="1691640"/>
            <a:ext cx="457200" cy="320040"/>
          </a:xfrm>
          <a:prstGeom prst="rightArrow">
            <a:avLst/>
          </a:prstGeom>
          <a:solidFill>
            <a:srgbClr val="F59E0B"/>
          </a:solidFill>
          <a:ln w="12700">
            <a:solidFill>
              <a:srgbClr val="F59E0B"/>
            </a:solidFill>
            <a:prstDash val="solid"/>
          </a:ln>
        </p:spPr>
      </p:sp>
      <p:sp>
        <p:nvSpPr>
          <p:cNvPr id="10" name="Shape 8"/>
          <p:cNvSpPr/>
          <p:nvPr/>
        </p:nvSpPr>
        <p:spPr>
          <a:xfrm>
            <a:off x="3337560" y="1097280"/>
            <a:ext cx="2286000" cy="1554480"/>
          </a:xfrm>
          <a:prstGeom prst="roundRect">
            <a:avLst/>
          </a:prstGeom>
          <a:solidFill>
            <a:srgbClr val="FFFFFF"/>
          </a:solidFill>
          <a:ln w="19050">
            <a:solidFill>
              <a:srgbClr val="18224B"/>
            </a:solidFill>
            <a:prstDash val="solid"/>
          </a:ln>
        </p:spPr>
      </p:sp>
      <p:sp>
        <p:nvSpPr>
          <p:cNvPr id="11" name="Text 9"/>
          <p:cNvSpPr/>
          <p:nvPr/>
        </p:nvSpPr>
        <p:spPr>
          <a:xfrm>
            <a:off x="3337560" y="1188720"/>
            <a:ext cx="2286000" cy="320040"/>
          </a:xfrm>
          <a:prstGeom prst="rect">
            <a:avLst/>
          </a:prstGeom>
          <a:noFill/>
          <a:ln/>
        </p:spPr>
        <p:txBody>
          <a:bodyPr wrap="square" rtlCol="0" anchor="ctr"/>
          <a:lstStyle/>
          <a:p>
            <a:pPr algn="ctr" indent="0" marL="0">
              <a:buNone/>
            </a:pPr>
            <a:r>
              <a:rPr lang="en-US" sz="1200" b="1" dirty="0">
                <a:solidFill>
                  <a:srgbClr val="18224B"/>
                </a:solidFill>
                <a:latin typeface="Arial" pitchFamily="34" charset="0"/>
                <a:ea typeface="Arial" pitchFamily="34" charset="-122"/>
                <a:cs typeface="Arial" pitchFamily="34" charset="-120"/>
              </a:rPr>
              <a:t>Backend</a:t>
            </a:r>
            <a:endParaRPr lang="en-US" sz="1200" dirty="0"/>
          </a:p>
        </p:txBody>
      </p:sp>
      <p:sp>
        <p:nvSpPr>
          <p:cNvPr id="12" name="Text 10"/>
          <p:cNvSpPr/>
          <p:nvPr/>
        </p:nvSpPr>
        <p:spPr>
          <a:xfrm>
            <a:off x="3429000" y="1508760"/>
            <a:ext cx="2103120" cy="1051560"/>
          </a:xfrm>
          <a:prstGeom prst="rect">
            <a:avLst/>
          </a:prstGeom>
          <a:noFill/>
          <a:ln/>
        </p:spPr>
        <p:txBody>
          <a:bodyPr wrap="square" rtlCol="0" anchor="ctr"/>
          <a:lstStyle/>
          <a:p>
            <a:pPr algn="ctr" indent="0" marL="0">
              <a:buNone/>
            </a:pPr>
            <a:r>
              <a:rPr lang="en-US" sz="900" dirty="0">
                <a:solidFill>
                  <a:srgbClr val="475569"/>
                </a:solidFill>
                <a:latin typeface="Arial" pitchFamily="34" charset="0"/>
                <a:ea typeface="Arial" pitchFamily="34" charset="-122"/>
                <a:cs typeface="Arial" pitchFamily="34" charset="-120"/>
              </a:rPr>
              <a:t>Spring Boot 3 (Port 8080)</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REST Controllers</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Spring Security &amp; JWT</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Service Business Logic</a:t>
            </a:r>
            <a:endParaRPr lang="en-US" sz="900" dirty="0"/>
          </a:p>
        </p:txBody>
      </p:sp>
      <p:sp>
        <p:nvSpPr>
          <p:cNvPr id="13" name="Shape 11"/>
          <p:cNvSpPr/>
          <p:nvPr/>
        </p:nvSpPr>
        <p:spPr>
          <a:xfrm>
            <a:off x="5669280" y="1691640"/>
            <a:ext cx="457200" cy="320040"/>
          </a:xfrm>
          <a:prstGeom prst="rightArrow">
            <a:avLst/>
          </a:prstGeom>
          <a:solidFill>
            <a:srgbClr val="F59E0B"/>
          </a:solidFill>
          <a:ln w="12700">
            <a:solidFill>
              <a:srgbClr val="F59E0B"/>
            </a:solidFill>
            <a:prstDash val="solid"/>
          </a:ln>
        </p:spPr>
      </p:sp>
      <p:sp>
        <p:nvSpPr>
          <p:cNvPr id="14" name="Shape 12"/>
          <p:cNvSpPr/>
          <p:nvPr/>
        </p:nvSpPr>
        <p:spPr>
          <a:xfrm>
            <a:off x="6217920" y="1097280"/>
            <a:ext cx="2286000" cy="1554480"/>
          </a:xfrm>
          <a:prstGeom prst="roundRect">
            <a:avLst/>
          </a:prstGeom>
          <a:solidFill>
            <a:srgbClr val="FFFFFF"/>
          </a:solidFill>
          <a:ln w="19050">
            <a:solidFill>
              <a:srgbClr val="18224B"/>
            </a:solidFill>
            <a:prstDash val="solid"/>
          </a:ln>
        </p:spPr>
      </p:sp>
      <p:sp>
        <p:nvSpPr>
          <p:cNvPr id="15" name="Text 13"/>
          <p:cNvSpPr/>
          <p:nvPr/>
        </p:nvSpPr>
        <p:spPr>
          <a:xfrm>
            <a:off x="6217920" y="1188720"/>
            <a:ext cx="2286000" cy="320040"/>
          </a:xfrm>
          <a:prstGeom prst="rect">
            <a:avLst/>
          </a:prstGeom>
          <a:noFill/>
          <a:ln/>
        </p:spPr>
        <p:txBody>
          <a:bodyPr wrap="square" rtlCol="0" anchor="ctr"/>
          <a:lstStyle/>
          <a:p>
            <a:pPr algn="ctr" indent="0" marL="0">
              <a:buNone/>
            </a:pPr>
            <a:r>
              <a:rPr lang="en-US" sz="1200" b="1" dirty="0">
                <a:solidFill>
                  <a:srgbClr val="18224B"/>
                </a:solidFill>
                <a:latin typeface="Arial" pitchFamily="34" charset="0"/>
                <a:ea typeface="Arial" pitchFamily="34" charset="-122"/>
                <a:cs typeface="Arial" pitchFamily="34" charset="-120"/>
              </a:rPr>
              <a:t>Database</a:t>
            </a:r>
            <a:endParaRPr lang="en-US" sz="1200" dirty="0"/>
          </a:p>
        </p:txBody>
      </p:sp>
      <p:sp>
        <p:nvSpPr>
          <p:cNvPr id="16" name="Text 14"/>
          <p:cNvSpPr/>
          <p:nvPr/>
        </p:nvSpPr>
        <p:spPr>
          <a:xfrm>
            <a:off x="6309360" y="1508760"/>
            <a:ext cx="2103120" cy="1051560"/>
          </a:xfrm>
          <a:prstGeom prst="rect">
            <a:avLst/>
          </a:prstGeom>
          <a:noFill/>
          <a:ln/>
        </p:spPr>
        <p:txBody>
          <a:bodyPr wrap="square" rtlCol="0" anchor="ctr"/>
          <a:lstStyle/>
          <a:p>
            <a:pPr algn="ctr" indent="0" marL="0">
              <a:buNone/>
            </a:pPr>
            <a:r>
              <a:rPr lang="en-US" sz="900" dirty="0">
                <a:solidFill>
                  <a:srgbClr val="475569"/>
                </a:solidFill>
                <a:latin typeface="Arial" pitchFamily="34" charset="0"/>
                <a:ea typeface="Arial" pitchFamily="34" charset="-122"/>
                <a:cs typeface="Arial" pitchFamily="34" charset="-120"/>
              </a:rPr>
              <a:t>MySQL 8 (Port 3306)</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Users &amp; Resumes</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Educations &amp; Experiences</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Relational JPA Mappings</a:t>
            </a:r>
            <a:endParaRPr lang="en-US" sz="900" dirty="0"/>
          </a:p>
        </p:txBody>
      </p:sp>
      <p:sp>
        <p:nvSpPr>
          <p:cNvPr id="17" name="Shape 15"/>
          <p:cNvSpPr/>
          <p:nvPr/>
        </p:nvSpPr>
        <p:spPr>
          <a:xfrm>
            <a:off x="8549640" y="1691640"/>
            <a:ext cx="457200" cy="320040"/>
          </a:xfrm>
          <a:prstGeom prst="rightArrow">
            <a:avLst/>
          </a:prstGeom>
          <a:solidFill>
            <a:srgbClr val="F59E0B"/>
          </a:solidFill>
          <a:ln w="12700">
            <a:solidFill>
              <a:srgbClr val="F59E0B"/>
            </a:solidFill>
            <a:prstDash val="solid"/>
          </a:ln>
        </p:spPr>
      </p:sp>
      <p:sp>
        <p:nvSpPr>
          <p:cNvPr id="18" name="Shape 16"/>
          <p:cNvSpPr/>
          <p:nvPr/>
        </p:nvSpPr>
        <p:spPr>
          <a:xfrm>
            <a:off x="9098280" y="1097280"/>
            <a:ext cx="2286000" cy="1554480"/>
          </a:xfrm>
          <a:prstGeom prst="roundRect">
            <a:avLst/>
          </a:prstGeom>
          <a:solidFill>
            <a:srgbClr val="FFFFFF"/>
          </a:solidFill>
          <a:ln w="19050">
            <a:solidFill>
              <a:srgbClr val="18224B"/>
            </a:solidFill>
            <a:prstDash val="solid"/>
          </a:ln>
        </p:spPr>
      </p:sp>
      <p:sp>
        <p:nvSpPr>
          <p:cNvPr id="19" name="Text 17"/>
          <p:cNvSpPr/>
          <p:nvPr/>
        </p:nvSpPr>
        <p:spPr>
          <a:xfrm>
            <a:off x="9098280" y="1188720"/>
            <a:ext cx="2286000" cy="320040"/>
          </a:xfrm>
          <a:prstGeom prst="rect">
            <a:avLst/>
          </a:prstGeom>
          <a:noFill/>
          <a:ln/>
        </p:spPr>
        <p:txBody>
          <a:bodyPr wrap="square" rtlCol="0" anchor="ctr"/>
          <a:lstStyle/>
          <a:p>
            <a:pPr algn="ctr" indent="0" marL="0">
              <a:buNone/>
            </a:pPr>
            <a:r>
              <a:rPr lang="en-US" sz="1200" b="1" dirty="0">
                <a:solidFill>
                  <a:srgbClr val="18224B"/>
                </a:solidFill>
                <a:latin typeface="Arial" pitchFamily="34" charset="0"/>
                <a:ea typeface="Arial" pitchFamily="34" charset="-122"/>
                <a:cs typeface="Arial" pitchFamily="34" charset="-120"/>
              </a:rPr>
              <a:t>External Services / APIs</a:t>
            </a:r>
            <a:endParaRPr lang="en-US" sz="1200" dirty="0"/>
          </a:p>
        </p:txBody>
      </p:sp>
      <p:sp>
        <p:nvSpPr>
          <p:cNvPr id="20" name="Text 18"/>
          <p:cNvSpPr/>
          <p:nvPr/>
        </p:nvSpPr>
        <p:spPr>
          <a:xfrm>
            <a:off x="9189720" y="1508760"/>
            <a:ext cx="2103120" cy="1051560"/>
          </a:xfrm>
          <a:prstGeom prst="rect">
            <a:avLst/>
          </a:prstGeom>
          <a:noFill/>
          <a:ln/>
        </p:spPr>
        <p:txBody>
          <a:bodyPr wrap="square" rtlCol="0" anchor="ctr"/>
          <a:lstStyle/>
          <a:p>
            <a:pPr algn="ctr" indent="0" marL="0">
              <a:buNone/>
            </a:pPr>
            <a:r>
              <a:rPr lang="en-US" sz="900" dirty="0">
                <a:solidFill>
                  <a:srgbClr val="475569"/>
                </a:solidFill>
                <a:latin typeface="Arial" pitchFamily="34" charset="0"/>
                <a:ea typeface="Arial" pitchFamily="34" charset="-122"/>
                <a:cs typeface="Arial" pitchFamily="34" charset="-120"/>
              </a:rPr>
              <a:t>Client Ecosystem</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PDF Print Service</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Browser Storage Cache</a:t>
            </a:r>
            <a:endParaRPr lang="en-US" sz="900" dirty="0"/>
          </a:p>
          <a:p>
            <a:pPr algn="ctr" indent="0" marL="0">
              <a:buNone/>
            </a:pPr>
            <a:r>
              <a:rPr lang="en-US" sz="900" dirty="0">
                <a:solidFill>
                  <a:srgbClr val="475569"/>
                </a:solidFill>
                <a:latin typeface="Arial" pitchFamily="34" charset="0"/>
                <a:ea typeface="Arial" pitchFamily="34" charset="-122"/>
                <a:cs typeface="Arial" pitchFamily="34" charset="-120"/>
              </a:rPr>
              <a:t>• ATS Keyword Evaluator</a:t>
            </a:r>
            <a:endParaRPr lang="en-US" sz="900" dirty="0"/>
          </a:p>
        </p:txBody>
      </p:sp>
      <p:sp>
        <p:nvSpPr>
          <p:cNvPr id="21" name="Shape 19"/>
          <p:cNvSpPr/>
          <p:nvPr/>
        </p:nvSpPr>
        <p:spPr>
          <a:xfrm>
            <a:off x="457200" y="2926080"/>
            <a:ext cx="11274552" cy="3200400"/>
          </a:xfrm>
          <a:prstGeom prst="roundRect">
            <a:avLst/>
          </a:prstGeom>
          <a:solidFill>
            <a:srgbClr val="EDF2F9"/>
          </a:solidFill>
          <a:ln w="12700">
            <a:solidFill>
              <a:srgbClr val="CBD5E1"/>
            </a:solidFill>
            <a:prstDash val="solid"/>
          </a:ln>
        </p:spPr>
      </p:sp>
      <p:sp>
        <p:nvSpPr>
          <p:cNvPr id="22" name="Text 20"/>
          <p:cNvSpPr/>
          <p:nvPr/>
        </p:nvSpPr>
        <p:spPr>
          <a:xfrm>
            <a:off x="731520" y="3108960"/>
            <a:ext cx="10515600" cy="365760"/>
          </a:xfrm>
          <a:prstGeom prst="rect">
            <a:avLst/>
          </a:prstGeom>
          <a:noFill/>
          <a:ln/>
        </p:spPr>
        <p:txBody>
          <a:bodyPr wrap="square" rtlCol="0" anchor="ctr"/>
          <a:lstStyle/>
          <a:p>
            <a:pPr indent="0" marL="0">
              <a:buNone/>
            </a:pPr>
            <a:r>
              <a:rPr lang="en-US" sz="1500" b="1" dirty="0">
                <a:solidFill>
                  <a:srgbClr val="18224B"/>
                </a:solidFill>
                <a:latin typeface="Arial" pitchFamily="34" charset="0"/>
                <a:ea typeface="Arial" pitchFamily="34" charset="-122"/>
                <a:cs typeface="Arial" pitchFamily="34" charset="-120"/>
              </a:rPr>
              <a:t>Data flow description</a:t>
            </a:r>
            <a:endParaRPr lang="en-US" sz="1500" dirty="0"/>
          </a:p>
        </p:txBody>
      </p:sp>
      <p:sp>
        <p:nvSpPr>
          <p:cNvPr id="23" name="Text 21"/>
          <p:cNvSpPr/>
          <p:nvPr/>
        </p:nvSpPr>
        <p:spPr>
          <a:xfrm>
            <a:off x="731520" y="3566160"/>
            <a:ext cx="10515600" cy="2377440"/>
          </a:xfrm>
          <a:prstGeom prst="rect">
            <a:avLst/>
          </a:prstGeom>
          <a:noFill/>
          <a:ln/>
        </p:spPr>
        <p:txBody>
          <a:bodyPr wrap="square" rtlCol="0" anchor="ctr"/>
          <a:lstStyle/>
          <a:p>
            <a:pPr marL="342900" indent="-342900">
              <a:buSzPct val="100000"/>
              <a:buChar char="•"/>
            </a:pPr>
            <a:r>
              <a:rPr lang="en-US" sz="1100" dirty="0">
                <a:solidFill>
                  <a:srgbClr val="1E293B"/>
                </a:solidFill>
                <a:latin typeface="Arial" pitchFamily="34" charset="0"/>
                <a:ea typeface="Arial" pitchFamily="34" charset="-122"/>
                <a:cs typeface="Arial" pitchFamily="34" charset="-120"/>
              </a:rPr>
              <a:t>1. User Interaction: The candidate edits resume fields or changes templates on the React client interface.</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2. API Transmission: Axios sends authenticated JSON payload via HTTP POST/PUT with Bearer JWT header to Spring Boot endpoints.</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3. Security &amp; Validation: JwtAuthenticationFilter inspects token validity; Spring Controllers validate payload constraints.</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4. Persistence: Spring Data JPA Repositories persist entities to MySQL tables with transactional integrity.</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5. Recruiter Discovery: Candidates marking "visibleToRecruiters = true" are instantly indexed for Recruiter Search queries.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07</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MODULES / FEATURES</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2926080"/>
                <a:gridCol w="8348472"/>
              </a:tblGrid>
              <a:tr h="411480">
                <a:tc>
                  <a:txBody>
                    <a:bodyPr/>
                    <a:lstStyle/>
                    <a:p>
                      <a:pPr indent="0" marL="0">
                        <a:buNone/>
                      </a:pPr>
                      <a:r>
                        <a:rPr lang="en-US" sz="1200" b="1" dirty="0">
                          <a:solidFill>
                            <a:srgbClr val="FFFFFF"/>
                          </a:solidFill>
                        </a:rPr>
                        <a:t>Module</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c>
                  <a:txBody>
                    <a:bodyPr/>
                    <a:lstStyle/>
                    <a:p>
                      <a:pPr indent="0" marL="0">
                        <a:buNone/>
                      </a:pPr>
                      <a:r>
                        <a:rPr lang="en-US" sz="1200" b="1" dirty="0">
                          <a:solidFill>
                            <a:srgbClr val="FFFFFF"/>
                          </a:solidFill>
                        </a:rPr>
                        <a:t>Purpose &amp; Capabilities</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r>
              <a:tr h="822960">
                <a:tc>
                  <a:txBody>
                    <a:bodyPr/>
                    <a:lstStyle/>
                    <a:p>
                      <a:pPr indent="0" marL="0">
                        <a:buNone/>
                      </a:pPr>
                      <a:r>
                        <a:rPr lang="en-US" sz="1050" b="1" dirty="0">
                          <a:solidFill>
                            <a:srgbClr val="18224B"/>
                          </a:solidFill>
                        </a:rPr>
                        <a:t>Auth &amp; Role Security Module</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Handles user registration, login, BCrypt password encryption, JWT issuance, and RBAC authorization (Job Seeker / Recruiter).</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822960">
                <a:tc>
                  <a:txBody>
                    <a:bodyPr/>
                    <a:lstStyle/>
                    <a:p>
                      <a:pPr indent="0" marL="0">
                        <a:buNone/>
                      </a:pPr>
                      <a:r>
                        <a:rPr lang="en-US" sz="1050" b="1" dirty="0">
                          <a:solidFill>
                            <a:srgbClr val="18224B"/>
                          </a:solidFill>
                        </a:rPr>
                        <a:t>Interactive Resume Builder</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Modular multi-section editor with dynamic additions (Education, Experience, Skills, References) and real-time live preview.</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822960">
                <a:tc>
                  <a:txBody>
                    <a:bodyPr/>
                    <a:lstStyle/>
                    <a:p>
                      <a:pPr indent="0" marL="0">
                        <a:buNone/>
                      </a:pPr>
                      <a:r>
                        <a:rPr lang="en-US" sz="1050" b="1" dirty="0">
                          <a:solidFill>
                            <a:srgbClr val="18224B"/>
                          </a:solidFill>
                        </a:rPr>
                        <a:t>Template Management Engine</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Provides 6 distinct ATS-optimized template designs (Timeline, Classic, Modern, Sidebar, Corporate, Creative) with instant switching.</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822960">
                <a:tc>
                  <a:txBody>
                    <a:bodyPr/>
                    <a:lstStyle/>
                    <a:p>
                      <a:pPr indent="0" marL="0">
                        <a:buNone/>
                      </a:pPr>
                      <a:r>
                        <a:rPr lang="en-US" sz="1050" b="1" dirty="0">
                          <a:solidFill>
                            <a:srgbClr val="18224B"/>
                          </a:solidFill>
                        </a:rPr>
                        <a:t>Recruiter Search &amp; Discovery</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Dedicated portal for hiring managers to search public candidates by keyword, skills, job title, and location with preview cards.</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822960">
                <a:tc>
                  <a:txBody>
                    <a:bodyPr/>
                    <a:lstStyle/>
                    <a:p>
                      <a:pPr indent="0" marL="0">
                        <a:buNone/>
                      </a:pPr>
                      <a:r>
                        <a:rPr lang="en-US" sz="1050" b="1" dirty="0">
                          <a:solidFill>
                            <a:srgbClr val="18224B"/>
                          </a:solidFill>
                        </a:rPr>
                        <a:t>Export &amp; Mobility Engine</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Generates print-optimized PDF outputs, JSON export for data backup, and quick-import functionality for existing profiles.</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08</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DATABASE / DATA MODEL</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097280"/>
            <a:ext cx="3017520" cy="1920240"/>
          </a:xfrm>
          <a:prstGeom prst="roundRect">
            <a:avLst/>
          </a:prstGeom>
          <a:solidFill>
            <a:srgbClr val="FFFFFF"/>
          </a:solidFill>
          <a:ln w="19050">
            <a:solidFill>
              <a:srgbClr val="18224B"/>
            </a:solidFill>
            <a:prstDash val="solid"/>
          </a:ln>
        </p:spPr>
      </p:sp>
      <p:sp>
        <p:nvSpPr>
          <p:cNvPr id="7" name="Text 5"/>
          <p:cNvSpPr/>
          <p:nvPr/>
        </p:nvSpPr>
        <p:spPr>
          <a:xfrm>
            <a:off x="457200" y="1188720"/>
            <a:ext cx="3017520" cy="320040"/>
          </a:xfrm>
          <a:prstGeom prst="rect">
            <a:avLst/>
          </a:prstGeom>
          <a:noFill/>
          <a:ln/>
        </p:spPr>
        <p:txBody>
          <a:bodyPr wrap="square" rtlCol="0" anchor="ctr"/>
          <a:lstStyle/>
          <a:p>
            <a:pPr algn="ctr" indent="0" marL="0">
              <a:buNone/>
            </a:pPr>
            <a:r>
              <a:rPr lang="en-US" sz="1300" b="1" dirty="0">
                <a:solidFill>
                  <a:srgbClr val="18224B"/>
                </a:solidFill>
                <a:latin typeface="Arial" pitchFamily="34" charset="0"/>
                <a:ea typeface="Arial" pitchFamily="34" charset="-122"/>
                <a:cs typeface="Arial" pitchFamily="34" charset="-120"/>
              </a:rPr>
              <a:t>Users</a:t>
            </a:r>
            <a:endParaRPr lang="en-US" sz="1300" dirty="0"/>
          </a:p>
        </p:txBody>
      </p:sp>
      <p:sp>
        <p:nvSpPr>
          <p:cNvPr id="8" name="Text 6"/>
          <p:cNvSpPr/>
          <p:nvPr/>
        </p:nvSpPr>
        <p:spPr>
          <a:xfrm>
            <a:off x="594360" y="1508760"/>
            <a:ext cx="2743200" cy="1417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id (PK, BigInt)</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email (Unique)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password (BCrypt)</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full_name, phone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role (SEEKER / RECRUITER)</a:t>
            </a:r>
            <a:endParaRPr lang="en-US" sz="950" dirty="0"/>
          </a:p>
        </p:txBody>
      </p:sp>
      <p:sp>
        <p:nvSpPr>
          <p:cNvPr id="9" name="Text 7"/>
          <p:cNvSpPr/>
          <p:nvPr/>
        </p:nvSpPr>
        <p:spPr>
          <a:xfrm>
            <a:off x="3520440" y="1737360"/>
            <a:ext cx="731520" cy="548640"/>
          </a:xfrm>
          <a:prstGeom prst="rect">
            <a:avLst/>
          </a:prstGeom>
          <a:noFill/>
          <a:ln/>
        </p:spPr>
        <p:txBody>
          <a:bodyPr wrap="square" rtlCol="0" anchor="ctr"/>
          <a:lstStyle/>
          <a:p>
            <a:pPr algn="ctr" indent="0" marL="0">
              <a:buNone/>
            </a:pPr>
            <a:r>
              <a:rPr lang="en-US" sz="1100" b="1" dirty="0">
                <a:solidFill>
                  <a:srgbClr val="F59E0B"/>
                </a:solidFill>
                <a:latin typeface="Arial" pitchFamily="34" charset="0"/>
                <a:ea typeface="Arial" pitchFamily="34" charset="-122"/>
                <a:cs typeface="Arial" pitchFamily="34" charset="-120"/>
              </a:rPr>
              <a:t>1 : N</a:t>
            </a:r>
            <a:endParaRPr lang="en-US" sz="1100" dirty="0"/>
          </a:p>
          <a:p>
            <a:pPr algn="ctr" indent="0" marL="0">
              <a:buNone/>
            </a:pPr>
            <a:r>
              <a:rPr lang="en-US" sz="1100" b="1" dirty="0">
                <a:solidFill>
                  <a:srgbClr val="F59E0B"/>
                </a:solidFill>
                <a:latin typeface="Arial" pitchFamily="34" charset="0"/>
                <a:ea typeface="Arial" pitchFamily="34" charset="-122"/>
                <a:cs typeface="Arial" pitchFamily="34" charset="-120"/>
              </a:rPr>
              <a:t>──►</a:t>
            </a:r>
            <a:endParaRPr lang="en-US" sz="1100" dirty="0"/>
          </a:p>
        </p:txBody>
      </p:sp>
      <p:sp>
        <p:nvSpPr>
          <p:cNvPr id="10" name="Shape 8"/>
          <p:cNvSpPr/>
          <p:nvPr/>
        </p:nvSpPr>
        <p:spPr>
          <a:xfrm>
            <a:off x="4297680" y="1097280"/>
            <a:ext cx="3017520" cy="1920240"/>
          </a:xfrm>
          <a:prstGeom prst="roundRect">
            <a:avLst/>
          </a:prstGeom>
          <a:solidFill>
            <a:srgbClr val="FFFFFF"/>
          </a:solidFill>
          <a:ln w="19050">
            <a:solidFill>
              <a:srgbClr val="18224B"/>
            </a:solidFill>
            <a:prstDash val="solid"/>
          </a:ln>
        </p:spPr>
      </p:sp>
      <p:sp>
        <p:nvSpPr>
          <p:cNvPr id="11" name="Text 9"/>
          <p:cNvSpPr/>
          <p:nvPr/>
        </p:nvSpPr>
        <p:spPr>
          <a:xfrm>
            <a:off x="4297680" y="1188720"/>
            <a:ext cx="3017520" cy="320040"/>
          </a:xfrm>
          <a:prstGeom prst="rect">
            <a:avLst/>
          </a:prstGeom>
          <a:noFill/>
          <a:ln/>
        </p:spPr>
        <p:txBody>
          <a:bodyPr wrap="square" rtlCol="0" anchor="ctr"/>
          <a:lstStyle/>
          <a:p>
            <a:pPr algn="ctr" indent="0" marL="0">
              <a:buNone/>
            </a:pPr>
            <a:r>
              <a:rPr lang="en-US" sz="1300" b="1" dirty="0">
                <a:solidFill>
                  <a:srgbClr val="18224B"/>
                </a:solidFill>
                <a:latin typeface="Arial" pitchFamily="34" charset="0"/>
                <a:ea typeface="Arial" pitchFamily="34" charset="-122"/>
                <a:cs typeface="Arial" pitchFamily="34" charset="-120"/>
              </a:rPr>
              <a:t>Resumes</a:t>
            </a:r>
            <a:endParaRPr lang="en-US" sz="1300" dirty="0"/>
          </a:p>
        </p:txBody>
      </p:sp>
      <p:sp>
        <p:nvSpPr>
          <p:cNvPr id="12" name="Text 10"/>
          <p:cNvSpPr/>
          <p:nvPr/>
        </p:nvSpPr>
        <p:spPr>
          <a:xfrm>
            <a:off x="4434840" y="1508760"/>
            <a:ext cx="2743200" cy="1417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id (PK, BigInt)</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owner_id (FK -&gt; users.id)</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template_id, title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summary, contact info</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visible_to_recruiters</a:t>
            </a:r>
            <a:endParaRPr lang="en-US" sz="950" dirty="0"/>
          </a:p>
        </p:txBody>
      </p:sp>
      <p:sp>
        <p:nvSpPr>
          <p:cNvPr id="13" name="Text 11"/>
          <p:cNvSpPr/>
          <p:nvPr/>
        </p:nvSpPr>
        <p:spPr>
          <a:xfrm>
            <a:off x="7360920" y="1737360"/>
            <a:ext cx="731520" cy="548640"/>
          </a:xfrm>
          <a:prstGeom prst="rect">
            <a:avLst/>
          </a:prstGeom>
          <a:noFill/>
          <a:ln/>
        </p:spPr>
        <p:txBody>
          <a:bodyPr wrap="square" rtlCol="0" anchor="ctr"/>
          <a:lstStyle/>
          <a:p>
            <a:pPr algn="ctr" indent="0" marL="0">
              <a:buNone/>
            </a:pPr>
            <a:r>
              <a:rPr lang="en-US" sz="1100" b="1" dirty="0">
                <a:solidFill>
                  <a:srgbClr val="F59E0B"/>
                </a:solidFill>
                <a:latin typeface="Arial" pitchFamily="34" charset="0"/>
                <a:ea typeface="Arial" pitchFamily="34" charset="-122"/>
                <a:cs typeface="Arial" pitchFamily="34" charset="-120"/>
              </a:rPr>
              <a:t>1 : N</a:t>
            </a:r>
            <a:endParaRPr lang="en-US" sz="1100" dirty="0"/>
          </a:p>
          <a:p>
            <a:pPr algn="ctr" indent="0" marL="0">
              <a:buNone/>
            </a:pPr>
            <a:r>
              <a:rPr lang="en-US" sz="1100" b="1" dirty="0">
                <a:solidFill>
                  <a:srgbClr val="F59E0B"/>
                </a:solidFill>
                <a:latin typeface="Arial" pitchFamily="34" charset="0"/>
                <a:ea typeface="Arial" pitchFamily="34" charset="-122"/>
                <a:cs typeface="Arial" pitchFamily="34" charset="-120"/>
              </a:rPr>
              <a:t>──►</a:t>
            </a:r>
            <a:endParaRPr lang="en-US" sz="1100" dirty="0"/>
          </a:p>
        </p:txBody>
      </p:sp>
      <p:sp>
        <p:nvSpPr>
          <p:cNvPr id="14" name="Shape 12"/>
          <p:cNvSpPr/>
          <p:nvPr/>
        </p:nvSpPr>
        <p:spPr>
          <a:xfrm>
            <a:off x="8138160" y="1097280"/>
            <a:ext cx="3017520" cy="1920240"/>
          </a:xfrm>
          <a:prstGeom prst="roundRect">
            <a:avLst/>
          </a:prstGeom>
          <a:solidFill>
            <a:srgbClr val="FFFFFF"/>
          </a:solidFill>
          <a:ln w="19050">
            <a:solidFill>
              <a:srgbClr val="18224B"/>
            </a:solidFill>
            <a:prstDash val="solid"/>
          </a:ln>
        </p:spPr>
      </p:sp>
      <p:sp>
        <p:nvSpPr>
          <p:cNvPr id="15" name="Text 13"/>
          <p:cNvSpPr/>
          <p:nvPr/>
        </p:nvSpPr>
        <p:spPr>
          <a:xfrm>
            <a:off x="8138160" y="1188720"/>
            <a:ext cx="3017520" cy="320040"/>
          </a:xfrm>
          <a:prstGeom prst="rect">
            <a:avLst/>
          </a:prstGeom>
          <a:noFill/>
          <a:ln/>
        </p:spPr>
        <p:txBody>
          <a:bodyPr wrap="square" rtlCol="0" anchor="ctr"/>
          <a:lstStyle/>
          <a:p>
            <a:pPr algn="ctr" indent="0" marL="0">
              <a:buNone/>
            </a:pPr>
            <a:r>
              <a:rPr lang="en-US" sz="1300" b="1" dirty="0">
                <a:solidFill>
                  <a:srgbClr val="18224B"/>
                </a:solidFill>
                <a:latin typeface="Arial" pitchFamily="34" charset="0"/>
                <a:ea typeface="Arial" pitchFamily="34" charset="-122"/>
                <a:cs typeface="Arial" pitchFamily="34" charset="-120"/>
              </a:rPr>
              <a:t>Child Entities</a:t>
            </a:r>
            <a:endParaRPr lang="en-US" sz="1300" dirty="0"/>
          </a:p>
        </p:txBody>
      </p:sp>
      <p:sp>
        <p:nvSpPr>
          <p:cNvPr id="16" name="Text 14"/>
          <p:cNvSpPr/>
          <p:nvPr/>
        </p:nvSpPr>
        <p:spPr>
          <a:xfrm>
            <a:off x="8275320" y="1508760"/>
            <a:ext cx="2743200" cy="1417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educations (FK -&gt; resumes)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experiences (FK -&gt; resumes)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resume_skills (FK -&gt; resumes)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resume_references (FK)</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resume_languages (FK)</a:t>
            </a:r>
            <a:endParaRPr lang="en-US" sz="950" dirty="0"/>
          </a:p>
        </p:txBody>
      </p:sp>
      <p:sp>
        <p:nvSpPr>
          <p:cNvPr id="17" name="Shape 15"/>
          <p:cNvSpPr/>
          <p:nvPr/>
        </p:nvSpPr>
        <p:spPr>
          <a:xfrm>
            <a:off x="457200" y="3291840"/>
            <a:ext cx="11274552" cy="2834640"/>
          </a:xfrm>
          <a:prstGeom prst="roundRect">
            <a:avLst/>
          </a:prstGeom>
          <a:solidFill>
            <a:srgbClr val="EDF2F9"/>
          </a:solidFill>
          <a:ln w="12700">
            <a:solidFill>
              <a:srgbClr val="CBD5E1"/>
            </a:solidFill>
            <a:prstDash val="solid"/>
          </a:ln>
        </p:spPr>
      </p:sp>
      <p:sp>
        <p:nvSpPr>
          <p:cNvPr id="18" name="Text 16"/>
          <p:cNvSpPr/>
          <p:nvPr/>
        </p:nvSpPr>
        <p:spPr>
          <a:xfrm>
            <a:off x="731520" y="3474720"/>
            <a:ext cx="10515600" cy="32004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Key entities &amp; relationships</a:t>
            </a:r>
            <a:endParaRPr lang="en-US" sz="1400" dirty="0"/>
          </a:p>
        </p:txBody>
      </p:sp>
      <p:sp>
        <p:nvSpPr>
          <p:cNvPr id="19" name="Text 17"/>
          <p:cNvSpPr/>
          <p:nvPr/>
        </p:nvSpPr>
        <p:spPr>
          <a:xfrm>
            <a:off x="731520" y="3886200"/>
            <a:ext cx="10515600" cy="2011680"/>
          </a:xfrm>
          <a:prstGeom prst="rect">
            <a:avLst/>
          </a:prstGeom>
          <a:noFill/>
          <a:ln/>
        </p:spPr>
        <p:txBody>
          <a:bodyPr wrap="square" rtlCol="0" anchor="ctr"/>
          <a:lstStyle/>
          <a:p>
            <a:pPr marL="342900" indent="-342900">
              <a:buSzPct val="100000"/>
              <a:buChar char="•"/>
            </a:pPr>
            <a:r>
              <a:rPr lang="en-US" sz="1100" dirty="0">
                <a:solidFill>
                  <a:srgbClr val="1E293B"/>
                </a:solidFill>
                <a:latin typeface="Arial" pitchFamily="34" charset="0"/>
                <a:ea typeface="Arial" pitchFamily="34" charset="-122"/>
                <a:cs typeface="Arial" pitchFamily="34" charset="-120"/>
              </a:rPr>
              <a:t>Users to Resumes (1 : N): One user can create multiple resumes (e.g. customized for Frontend, Full-Stack, or Data Science roles).</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Resumes to Sub-Collections (1 : N): Cascade DELETE ensures removing a resume automatically cleans up all associated educations, experiences, skills, languages, and references.</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Templates Entity: Pre-seeded master catalog containing metadata (industryCategory, layoutStyle, colorScheme, atsFriendly flag).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09</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APPLICATION WORKFLOW</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Shape 4"/>
          <p:cNvSpPr/>
          <p:nvPr/>
        </p:nvSpPr>
        <p:spPr>
          <a:xfrm>
            <a:off x="457200" y="1188720"/>
            <a:ext cx="1691640" cy="1005840"/>
          </a:xfrm>
          <a:prstGeom prst="ellipse">
            <a:avLst/>
          </a:prstGeom>
          <a:solidFill>
            <a:srgbClr val="18224B"/>
          </a:solidFill>
          <a:ln w="19050">
            <a:solidFill>
              <a:srgbClr val="18224B"/>
            </a:solidFill>
            <a:prstDash val="solid"/>
          </a:ln>
        </p:spPr>
      </p:sp>
      <p:sp>
        <p:nvSpPr>
          <p:cNvPr id="7" name="Text 5"/>
          <p:cNvSpPr/>
          <p:nvPr/>
        </p:nvSpPr>
        <p:spPr>
          <a:xfrm>
            <a:off x="457200" y="1188720"/>
            <a:ext cx="1691640" cy="100584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Start</a:t>
            </a:r>
            <a:endParaRPr lang="en-US" sz="1050" dirty="0"/>
          </a:p>
        </p:txBody>
      </p:sp>
      <p:sp>
        <p:nvSpPr>
          <p:cNvPr id="8" name="Shape 6"/>
          <p:cNvSpPr/>
          <p:nvPr/>
        </p:nvSpPr>
        <p:spPr>
          <a:xfrm>
            <a:off x="2240280" y="1536192"/>
            <a:ext cx="457200" cy="274320"/>
          </a:xfrm>
          <a:prstGeom prst="rightArrow">
            <a:avLst/>
          </a:prstGeom>
          <a:solidFill>
            <a:srgbClr val="F59E0B"/>
          </a:solidFill>
          <a:ln w="12700">
            <a:solidFill>
              <a:srgbClr val="F59E0B"/>
            </a:solidFill>
            <a:prstDash val="solid"/>
          </a:ln>
        </p:spPr>
      </p:sp>
      <p:sp>
        <p:nvSpPr>
          <p:cNvPr id="9" name="Shape 7"/>
          <p:cNvSpPr/>
          <p:nvPr/>
        </p:nvSpPr>
        <p:spPr>
          <a:xfrm>
            <a:off x="2788920" y="1188720"/>
            <a:ext cx="1691640" cy="1005840"/>
          </a:xfrm>
          <a:prstGeom prst="roundRect">
            <a:avLst/>
          </a:prstGeom>
          <a:solidFill>
            <a:srgbClr val="FFFFFF"/>
          </a:solidFill>
          <a:ln w="19050">
            <a:solidFill>
              <a:srgbClr val="18224B"/>
            </a:solidFill>
            <a:prstDash val="solid"/>
          </a:ln>
        </p:spPr>
      </p:sp>
      <p:sp>
        <p:nvSpPr>
          <p:cNvPr id="10" name="Text 8"/>
          <p:cNvSpPr/>
          <p:nvPr/>
        </p:nvSpPr>
        <p:spPr>
          <a:xfrm>
            <a:off x="2788920" y="1188720"/>
            <a:ext cx="1691640" cy="1005840"/>
          </a:xfrm>
          <a:prstGeom prst="rect">
            <a:avLst/>
          </a:prstGeom>
          <a:noFill/>
          <a:ln/>
        </p:spPr>
        <p:txBody>
          <a:bodyPr wrap="square" rtlCol="0" anchor="ctr"/>
          <a:lstStyle/>
          <a:p>
            <a:pPr algn="ctr" indent="0" marL="0">
              <a:buNone/>
            </a:pPr>
            <a:r>
              <a:rPr lang="en-US" sz="1050" b="1" dirty="0">
                <a:solidFill>
                  <a:srgbClr val="18224B"/>
                </a:solidFill>
                <a:latin typeface="Arial" pitchFamily="34" charset="0"/>
                <a:ea typeface="Arial" pitchFamily="34" charset="-122"/>
                <a:cs typeface="Arial" pitchFamily="34" charset="-120"/>
              </a:rPr>
              <a:t>1. Auth &amp;</a:t>
            </a:r>
            <a:endParaRPr lang="en-US" sz="1050" dirty="0"/>
          </a:p>
          <a:p>
            <a:pPr algn="ctr" indent="0" marL="0">
              <a:buNone/>
            </a:pPr>
            <a:r>
              <a:rPr lang="en-US" sz="1050" b="1" dirty="0">
                <a:solidFill>
                  <a:srgbClr val="18224B"/>
                </a:solidFill>
                <a:latin typeface="Arial" pitchFamily="34" charset="0"/>
                <a:ea typeface="Arial" pitchFamily="34" charset="-122"/>
                <a:cs typeface="Arial" pitchFamily="34" charset="-120"/>
              </a:rPr>
              <a:t>Dashboard</a:t>
            </a:r>
            <a:endParaRPr lang="en-US" sz="1050" dirty="0"/>
          </a:p>
        </p:txBody>
      </p:sp>
      <p:sp>
        <p:nvSpPr>
          <p:cNvPr id="11" name="Shape 9"/>
          <p:cNvSpPr/>
          <p:nvPr/>
        </p:nvSpPr>
        <p:spPr>
          <a:xfrm>
            <a:off x="4572000" y="1536192"/>
            <a:ext cx="457200" cy="274320"/>
          </a:xfrm>
          <a:prstGeom prst="rightArrow">
            <a:avLst/>
          </a:prstGeom>
          <a:solidFill>
            <a:srgbClr val="F59E0B"/>
          </a:solidFill>
          <a:ln w="12700">
            <a:solidFill>
              <a:srgbClr val="F59E0B"/>
            </a:solidFill>
            <a:prstDash val="solid"/>
          </a:ln>
        </p:spPr>
      </p:sp>
      <p:sp>
        <p:nvSpPr>
          <p:cNvPr id="12" name="Shape 10"/>
          <p:cNvSpPr/>
          <p:nvPr/>
        </p:nvSpPr>
        <p:spPr>
          <a:xfrm>
            <a:off x="5120640" y="1188720"/>
            <a:ext cx="1691640" cy="1005840"/>
          </a:xfrm>
          <a:prstGeom prst="roundRect">
            <a:avLst/>
          </a:prstGeom>
          <a:solidFill>
            <a:srgbClr val="FFFFFF"/>
          </a:solidFill>
          <a:ln w="19050">
            <a:solidFill>
              <a:srgbClr val="18224B"/>
            </a:solidFill>
            <a:prstDash val="solid"/>
          </a:ln>
        </p:spPr>
      </p:sp>
      <p:sp>
        <p:nvSpPr>
          <p:cNvPr id="13" name="Text 11"/>
          <p:cNvSpPr/>
          <p:nvPr/>
        </p:nvSpPr>
        <p:spPr>
          <a:xfrm>
            <a:off x="5120640" y="1188720"/>
            <a:ext cx="1691640" cy="1005840"/>
          </a:xfrm>
          <a:prstGeom prst="rect">
            <a:avLst/>
          </a:prstGeom>
          <a:noFill/>
          <a:ln/>
        </p:spPr>
        <p:txBody>
          <a:bodyPr wrap="square" rtlCol="0" anchor="ctr"/>
          <a:lstStyle/>
          <a:p>
            <a:pPr algn="ctr" indent="0" marL="0">
              <a:buNone/>
            </a:pPr>
            <a:r>
              <a:rPr lang="en-US" sz="1050" b="1" dirty="0">
                <a:solidFill>
                  <a:srgbClr val="18224B"/>
                </a:solidFill>
                <a:latin typeface="Arial" pitchFamily="34" charset="0"/>
                <a:ea typeface="Arial" pitchFamily="34" charset="-122"/>
                <a:cs typeface="Arial" pitchFamily="34" charset="-120"/>
              </a:rPr>
              <a:t>2. Modular</a:t>
            </a:r>
            <a:endParaRPr lang="en-US" sz="1050" dirty="0"/>
          </a:p>
          <a:p>
            <a:pPr algn="ctr" indent="0" marL="0">
              <a:buNone/>
            </a:pPr>
            <a:r>
              <a:rPr lang="en-US" sz="1050" b="1" dirty="0">
                <a:solidFill>
                  <a:srgbClr val="18224B"/>
                </a:solidFill>
                <a:latin typeface="Arial" pitchFamily="34" charset="0"/>
                <a:ea typeface="Arial" pitchFamily="34" charset="-122"/>
                <a:cs typeface="Arial" pitchFamily="34" charset="-120"/>
              </a:rPr>
              <a:t>Resume Editing</a:t>
            </a:r>
            <a:endParaRPr lang="en-US" sz="1050" dirty="0"/>
          </a:p>
        </p:txBody>
      </p:sp>
      <p:sp>
        <p:nvSpPr>
          <p:cNvPr id="14" name="Shape 12"/>
          <p:cNvSpPr/>
          <p:nvPr/>
        </p:nvSpPr>
        <p:spPr>
          <a:xfrm>
            <a:off x="6903720" y="1536192"/>
            <a:ext cx="457200" cy="274320"/>
          </a:xfrm>
          <a:prstGeom prst="rightArrow">
            <a:avLst/>
          </a:prstGeom>
          <a:solidFill>
            <a:srgbClr val="F59E0B"/>
          </a:solidFill>
          <a:ln w="12700">
            <a:solidFill>
              <a:srgbClr val="F59E0B"/>
            </a:solidFill>
            <a:prstDash val="solid"/>
          </a:ln>
        </p:spPr>
      </p:sp>
      <p:sp>
        <p:nvSpPr>
          <p:cNvPr id="15" name="Shape 13"/>
          <p:cNvSpPr/>
          <p:nvPr/>
        </p:nvSpPr>
        <p:spPr>
          <a:xfrm>
            <a:off x="7452360" y="1188720"/>
            <a:ext cx="1691640" cy="1005840"/>
          </a:xfrm>
          <a:prstGeom prst="roundRect">
            <a:avLst/>
          </a:prstGeom>
          <a:solidFill>
            <a:srgbClr val="FFFFFF"/>
          </a:solidFill>
          <a:ln w="19050">
            <a:solidFill>
              <a:srgbClr val="18224B"/>
            </a:solidFill>
            <a:prstDash val="solid"/>
          </a:ln>
        </p:spPr>
      </p:sp>
      <p:sp>
        <p:nvSpPr>
          <p:cNvPr id="16" name="Text 14"/>
          <p:cNvSpPr/>
          <p:nvPr/>
        </p:nvSpPr>
        <p:spPr>
          <a:xfrm>
            <a:off x="7452360" y="1188720"/>
            <a:ext cx="1691640" cy="1005840"/>
          </a:xfrm>
          <a:prstGeom prst="rect">
            <a:avLst/>
          </a:prstGeom>
          <a:noFill/>
          <a:ln/>
        </p:spPr>
        <p:txBody>
          <a:bodyPr wrap="square" rtlCol="0" anchor="ctr"/>
          <a:lstStyle/>
          <a:p>
            <a:pPr algn="ctr" indent="0" marL="0">
              <a:buNone/>
            </a:pPr>
            <a:r>
              <a:rPr lang="en-US" sz="1050" b="1" dirty="0">
                <a:solidFill>
                  <a:srgbClr val="18224B"/>
                </a:solidFill>
                <a:latin typeface="Arial" pitchFamily="34" charset="0"/>
                <a:ea typeface="Arial" pitchFamily="34" charset="-122"/>
                <a:cs typeface="Arial" pitchFamily="34" charset="-120"/>
              </a:rPr>
              <a:t>3. Template &amp;</a:t>
            </a:r>
            <a:endParaRPr lang="en-US" sz="1050" dirty="0"/>
          </a:p>
          <a:p>
            <a:pPr algn="ctr" indent="0" marL="0">
              <a:buNone/>
            </a:pPr>
            <a:r>
              <a:rPr lang="en-US" sz="1050" b="1" dirty="0">
                <a:solidFill>
                  <a:srgbClr val="18224B"/>
                </a:solidFill>
                <a:latin typeface="Arial" pitchFamily="34" charset="0"/>
                <a:ea typeface="Arial" pitchFamily="34" charset="-122"/>
                <a:cs typeface="Arial" pitchFamily="34" charset="-120"/>
              </a:rPr>
              <a:t>Live Preview</a:t>
            </a:r>
            <a:endParaRPr lang="en-US" sz="1050" dirty="0"/>
          </a:p>
        </p:txBody>
      </p:sp>
      <p:sp>
        <p:nvSpPr>
          <p:cNvPr id="17" name="Shape 15"/>
          <p:cNvSpPr/>
          <p:nvPr/>
        </p:nvSpPr>
        <p:spPr>
          <a:xfrm>
            <a:off x="9235440" y="1536192"/>
            <a:ext cx="457200" cy="274320"/>
          </a:xfrm>
          <a:prstGeom prst="rightArrow">
            <a:avLst/>
          </a:prstGeom>
          <a:solidFill>
            <a:srgbClr val="F59E0B"/>
          </a:solidFill>
          <a:ln w="12700">
            <a:solidFill>
              <a:srgbClr val="F59E0B"/>
            </a:solidFill>
            <a:prstDash val="solid"/>
          </a:ln>
        </p:spPr>
      </p:sp>
      <p:sp>
        <p:nvSpPr>
          <p:cNvPr id="18" name="Shape 16"/>
          <p:cNvSpPr/>
          <p:nvPr/>
        </p:nvSpPr>
        <p:spPr>
          <a:xfrm>
            <a:off x="9784080" y="1188720"/>
            <a:ext cx="1691640" cy="1005840"/>
          </a:xfrm>
          <a:prstGeom prst="ellipse">
            <a:avLst/>
          </a:prstGeom>
          <a:solidFill>
            <a:srgbClr val="18224B"/>
          </a:solidFill>
          <a:ln w="19050">
            <a:solidFill>
              <a:srgbClr val="18224B"/>
            </a:solidFill>
            <a:prstDash val="solid"/>
          </a:ln>
        </p:spPr>
      </p:sp>
      <p:sp>
        <p:nvSpPr>
          <p:cNvPr id="19" name="Text 17"/>
          <p:cNvSpPr/>
          <p:nvPr/>
        </p:nvSpPr>
        <p:spPr>
          <a:xfrm>
            <a:off x="9784080" y="1188720"/>
            <a:ext cx="1691640" cy="100584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End (Export /</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Recruiter Match)</a:t>
            </a:r>
            <a:endParaRPr lang="en-US" sz="1050" dirty="0"/>
          </a:p>
        </p:txBody>
      </p:sp>
      <p:sp>
        <p:nvSpPr>
          <p:cNvPr id="20" name="Shape 18"/>
          <p:cNvSpPr/>
          <p:nvPr/>
        </p:nvSpPr>
        <p:spPr>
          <a:xfrm>
            <a:off x="457200" y="2560320"/>
            <a:ext cx="11274552" cy="3566160"/>
          </a:xfrm>
          <a:prstGeom prst="roundRect">
            <a:avLst/>
          </a:prstGeom>
          <a:solidFill>
            <a:srgbClr val="EDF2F9"/>
          </a:solidFill>
          <a:ln w="12700">
            <a:solidFill>
              <a:srgbClr val="CBD5E1"/>
            </a:solidFill>
            <a:prstDash val="solid"/>
          </a:ln>
        </p:spPr>
      </p:sp>
      <p:sp>
        <p:nvSpPr>
          <p:cNvPr id="21" name="Text 19"/>
          <p:cNvSpPr/>
          <p:nvPr/>
        </p:nvSpPr>
        <p:spPr>
          <a:xfrm>
            <a:off x="731520" y="2743200"/>
            <a:ext cx="10515600" cy="365760"/>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End-to-End User &amp; System Flow</a:t>
            </a:r>
            <a:endParaRPr lang="en-US" sz="1400" dirty="0"/>
          </a:p>
        </p:txBody>
      </p:sp>
      <p:sp>
        <p:nvSpPr>
          <p:cNvPr id="22" name="Text 20"/>
          <p:cNvSpPr/>
          <p:nvPr/>
        </p:nvSpPr>
        <p:spPr>
          <a:xfrm>
            <a:off x="731520" y="3200400"/>
            <a:ext cx="10515600" cy="2743200"/>
          </a:xfrm>
          <a:prstGeom prst="rect">
            <a:avLst/>
          </a:prstGeom>
          <a:noFill/>
          <a:ln/>
        </p:spPr>
        <p:txBody>
          <a:bodyPr wrap="square" rtlCol="0" anchor="ctr"/>
          <a:lstStyle/>
          <a:p>
            <a:pPr marL="342900" indent="-342900">
              <a:buSzPct val="100000"/>
              <a:buChar char="•"/>
            </a:pPr>
            <a:r>
              <a:rPr lang="en-US" sz="1100" dirty="0">
                <a:solidFill>
                  <a:srgbClr val="1E293B"/>
                </a:solidFill>
                <a:latin typeface="Arial" pitchFamily="34" charset="0"/>
                <a:ea typeface="Arial" pitchFamily="34" charset="-122"/>
                <a:cs typeface="Arial" pitchFamily="34" charset="-120"/>
              </a:rPr>
              <a:t>Registration &amp; Login: Job Seeker signs in, receives JWT token, and accesses user dashboard with existing resumes.</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Resume Authoring: User fills personal info, skills, education, work experience with live form validations and dynamic item addition/removal.</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Instant Template Rendering: Split-screen updates resume preview instantaneously upon every keystroke, allowing instant template skin toggling.</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Persistence &amp; Export: Document is synchronized to MySQL via Spring Boot REST APIs; user downloads high-res PDF or shares public profile.</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Recruiter Matching: Hiring managers query the talent database to discover and view public resumes matching desired tech skills and experience.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10</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KEY FUNCTIONALITY</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Text 4"/>
          <p:cNvSpPr/>
          <p:nvPr/>
        </p:nvSpPr>
        <p:spPr>
          <a:xfrm>
            <a:off x="457200" y="1005840"/>
            <a:ext cx="6400800" cy="457200"/>
          </a:xfrm>
          <a:prstGeom prst="rect">
            <a:avLst/>
          </a:prstGeom>
          <a:noFill/>
          <a:ln/>
        </p:spPr>
        <p:txBody>
          <a:bodyPr wrap="square" rtlCol="0" anchor="ctr"/>
          <a:lstStyle/>
          <a:p>
            <a:pPr indent="0" marL="0">
              <a:buNone/>
            </a:pPr>
            <a:r>
              <a:rPr lang="en-US" sz="1800" b="1" dirty="0">
                <a:solidFill>
                  <a:srgbClr val="18224B"/>
                </a:solidFill>
                <a:latin typeface="Arial" pitchFamily="34" charset="0"/>
                <a:ea typeface="Arial" pitchFamily="34" charset="-122"/>
                <a:cs typeface="Arial" pitchFamily="34" charset="-120"/>
              </a:rPr>
              <a:t>Interactive Live Resume Builder &amp; ATS Template Engine</a:t>
            </a:r>
            <a:endParaRPr lang="en-US" sz="1800" dirty="0"/>
          </a:p>
        </p:txBody>
      </p:sp>
      <p:sp>
        <p:nvSpPr>
          <p:cNvPr id="7" name="Text 5"/>
          <p:cNvSpPr/>
          <p:nvPr/>
        </p:nvSpPr>
        <p:spPr>
          <a:xfrm>
            <a:off x="457200" y="1554480"/>
            <a:ext cx="548640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What the user can do</a:t>
            </a:r>
            <a:endParaRPr lang="en-US" sz="1300" dirty="0"/>
          </a:p>
        </p:txBody>
      </p:sp>
      <p:sp>
        <p:nvSpPr>
          <p:cNvPr id="8" name="Text 6"/>
          <p:cNvSpPr/>
          <p:nvPr/>
        </p:nvSpPr>
        <p:spPr>
          <a:xfrm>
            <a:off x="457200" y="1920240"/>
            <a:ext cx="5486400" cy="1920240"/>
          </a:xfrm>
          <a:prstGeom prst="rect">
            <a:avLst/>
          </a:prstGeom>
          <a:noFill/>
          <a:ln/>
        </p:spPr>
        <p:txBody>
          <a:bodyPr wrap="square" rtlCol="0" anchor="ctr"/>
          <a:lstStyle/>
          <a:p>
            <a:pPr marL="342900" indent="-342900">
              <a:buSzPct val="100000"/>
              <a:buChar char="•"/>
            </a:pPr>
            <a:r>
              <a:rPr lang="en-US" sz="1100" dirty="0">
                <a:solidFill>
                  <a:srgbClr val="1E293B"/>
                </a:solidFill>
                <a:latin typeface="Arial" pitchFamily="34" charset="0"/>
                <a:ea typeface="Arial" pitchFamily="34" charset="-122"/>
                <a:cs typeface="Arial" pitchFamily="34" charset="-120"/>
              </a:rPr>
              <a:t>Edit personal details, summary, experience timeline, skills, and references in an intuitive multi-tab form.</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Switch between 6 ATS-friendly layout presets with instant live re-rendering on the right preview pane.</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Export high-definition PDF resumes, download JSON data files, or toggle visibility for recruiter discovery.</a:t>
            </a:r>
            <a:endParaRPr lang="en-US" sz="1100" dirty="0"/>
          </a:p>
        </p:txBody>
      </p:sp>
      <p:sp>
        <p:nvSpPr>
          <p:cNvPr id="9" name="Text 7"/>
          <p:cNvSpPr/>
          <p:nvPr/>
        </p:nvSpPr>
        <p:spPr>
          <a:xfrm>
            <a:off x="457200" y="4023360"/>
            <a:ext cx="548640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How it works</a:t>
            </a:r>
            <a:endParaRPr lang="en-US" sz="1300" dirty="0"/>
          </a:p>
        </p:txBody>
      </p:sp>
      <p:sp>
        <p:nvSpPr>
          <p:cNvPr id="10" name="Text 8"/>
          <p:cNvSpPr/>
          <p:nvPr/>
        </p:nvSpPr>
        <p:spPr>
          <a:xfrm>
            <a:off x="457200" y="4389120"/>
            <a:ext cx="5486400" cy="164592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State is centrally managed in React and passed to ResumeDocumentPreview component. Changes trigger immediate DOM re-render without page refresh. When saved, payload is validated and persisted via REST API in MySQL.</a:t>
            </a:r>
            <a:endParaRPr lang="en-US" sz="1100" dirty="0"/>
          </a:p>
        </p:txBody>
      </p:sp>
      <p:sp>
        <p:nvSpPr>
          <p:cNvPr id="11" name="Shape 9"/>
          <p:cNvSpPr/>
          <p:nvPr/>
        </p:nvSpPr>
        <p:spPr>
          <a:xfrm>
            <a:off x="6217920" y="1005840"/>
            <a:ext cx="5486400" cy="5120640"/>
          </a:xfrm>
          <a:prstGeom prst="roundRect">
            <a:avLst/>
          </a:prstGeom>
          <a:solidFill>
            <a:srgbClr val="EDF2F9"/>
          </a:solidFill>
          <a:ln w="12700">
            <a:solidFill>
              <a:srgbClr val="CBD5E1"/>
            </a:solidFill>
            <a:prstDash val="dash"/>
          </a:ln>
        </p:spPr>
      </p:sp>
      <p:sp>
        <p:nvSpPr>
          <p:cNvPr id="12" name="Shape 10"/>
          <p:cNvSpPr/>
          <p:nvPr/>
        </p:nvSpPr>
        <p:spPr>
          <a:xfrm>
            <a:off x="6492240" y="1280160"/>
            <a:ext cx="4937760" cy="2103120"/>
          </a:xfrm>
          <a:prstGeom prst="roundRect">
            <a:avLst/>
          </a:prstGeom>
          <a:solidFill>
            <a:srgbClr val="FFFFFF"/>
          </a:solidFill>
          <a:ln w="12700">
            <a:solidFill>
              <a:srgbClr val="18224B"/>
            </a:solidFill>
            <a:prstDash val="solid"/>
          </a:ln>
        </p:spPr>
      </p:sp>
      <p:sp>
        <p:nvSpPr>
          <p:cNvPr id="13" name="Text 11"/>
          <p:cNvSpPr/>
          <p:nvPr/>
        </p:nvSpPr>
        <p:spPr>
          <a:xfrm>
            <a:off x="6492240" y="1280160"/>
            <a:ext cx="4937760" cy="2103120"/>
          </a:xfrm>
          <a:prstGeom prst="rect">
            <a:avLst/>
          </a:prstGeom>
          <a:noFill/>
          <a:ln/>
        </p:spPr>
        <p:txBody>
          <a:bodyPr wrap="square" rtlCol="0" anchor="ctr"/>
          <a:lstStyle/>
          <a:p>
            <a:pPr algn="ctr" indent="0" marL="0">
              <a:buNone/>
            </a:pPr>
            <a:r>
              <a:rPr lang="en-US" sz="1100" b="1" dirty="0">
                <a:solidFill>
                  <a:srgbClr val="18224B"/>
                </a:solidFill>
                <a:latin typeface="Arial" pitchFamily="34" charset="0"/>
                <a:ea typeface="Arial" pitchFamily="34" charset="-122"/>
                <a:cs typeface="Arial" pitchFamily="34" charset="-120"/>
              </a:rPr>
              <a:t>SPLIT-SCREEN BUILDER PREVIEW</a:t>
            </a:r>
            <a:endParaRPr lang="en-US" sz="1100" dirty="0"/>
          </a:p>
          <a:p>
            <a:pPr algn="ctr" indent="0" marL="0">
              <a:buNone/>
            </a:pPr>
            <a:endParaRPr lang="en-US" sz="1100" dirty="0"/>
          </a:p>
          <a:p>
            <a:pPr algn="ctr" indent="0" marL="0">
              <a:buNone/>
            </a:pPr>
            <a:r>
              <a:rPr lang="en-US" sz="1100" b="1" dirty="0">
                <a:solidFill>
                  <a:srgbClr val="18224B"/>
                </a:solidFill>
                <a:latin typeface="Arial" pitchFamily="34" charset="0"/>
                <a:ea typeface="Arial" pitchFamily="34" charset="-122"/>
                <a:cs typeface="Arial" pitchFamily="34" charset="-120"/>
              </a:rPr>
              <a:t>[ Left: Section Forms &amp; Dynamic Rows ]</a:t>
            </a:r>
            <a:endParaRPr lang="en-US" sz="1100" dirty="0"/>
          </a:p>
          <a:p>
            <a:pPr algn="ctr" indent="0" marL="0">
              <a:buNone/>
            </a:pPr>
            <a:r>
              <a:rPr lang="en-US" sz="1100" b="1" dirty="0">
                <a:solidFill>
                  <a:srgbClr val="18224B"/>
                </a:solidFill>
                <a:latin typeface="Arial" pitchFamily="34" charset="0"/>
                <a:ea typeface="Arial" pitchFamily="34" charset="-122"/>
                <a:cs typeface="Arial" pitchFamily="34" charset="-120"/>
              </a:rPr>
              <a:t>[ Right: Live ATS Resume Rendering ]</a:t>
            </a:r>
            <a:endParaRPr lang="en-US" sz="1100" dirty="0"/>
          </a:p>
        </p:txBody>
      </p:sp>
      <p:sp>
        <p:nvSpPr>
          <p:cNvPr id="14" name="Shape 12"/>
          <p:cNvSpPr/>
          <p:nvPr/>
        </p:nvSpPr>
        <p:spPr>
          <a:xfrm>
            <a:off x="6492240" y="3566160"/>
            <a:ext cx="4937760" cy="2286000"/>
          </a:xfrm>
          <a:prstGeom prst="roundRect">
            <a:avLst/>
          </a:prstGeom>
          <a:solidFill>
            <a:srgbClr val="1E293B"/>
          </a:solidFill>
          <a:ln w="12700">
            <a:solidFill>
              <a:srgbClr val="1E293B"/>
            </a:solidFill>
            <a:prstDash val="solid"/>
          </a:ln>
        </p:spPr>
      </p:sp>
      <p:sp>
        <p:nvSpPr>
          <p:cNvPr id="15" name="Text 13"/>
          <p:cNvSpPr/>
          <p:nvPr/>
        </p:nvSpPr>
        <p:spPr>
          <a:xfrm>
            <a:off x="6675120" y="3657600"/>
            <a:ext cx="4572000" cy="210312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KEY CAPABILITIES HIGHLIGHT</a:t>
            </a:r>
            <a:endParaRPr lang="en-US" sz="1050" dirty="0"/>
          </a:p>
          <a:p>
            <a:pPr indent="0" marL="0">
              <a:buNone/>
            </a:pPr>
            <a:endParaRPr lang="en-US" sz="1050" dirty="0"/>
          </a:p>
          <a:p>
            <a:pPr indent="0" marL="0">
              <a:buNone/>
            </a:pPr>
            <a:r>
              <a:rPr lang="en-US" sz="1050" dirty="0">
                <a:solidFill>
                  <a:srgbClr val="FFFFFF"/>
                </a:solidFill>
                <a:latin typeface="Arial" pitchFamily="34" charset="0"/>
                <a:ea typeface="Arial" pitchFamily="34" charset="-122"/>
                <a:cs typeface="Arial" pitchFamily="34" charset="-120"/>
              </a:rPr>
              <a:t>✔ Zero Latency React Preview</a:t>
            </a:r>
            <a:endParaRPr lang="en-US" sz="1050" dirty="0"/>
          </a:p>
          <a:p>
            <a:pPr indent="0" marL="0">
              <a:buNone/>
            </a:pPr>
            <a:r>
              <a:rPr lang="en-US" sz="1050" dirty="0">
                <a:solidFill>
                  <a:srgbClr val="FFFFFF"/>
                </a:solidFill>
                <a:latin typeface="Arial" pitchFamily="34" charset="0"/>
                <a:ea typeface="Arial" pitchFamily="34" charset="-122"/>
                <a:cs typeface="Arial" pitchFamily="34" charset="-120"/>
              </a:rPr>
              <a:t>✔ 6 Pre-configured ATS Color &amp; Typography Styles</a:t>
            </a:r>
            <a:endParaRPr lang="en-US" sz="1050" dirty="0"/>
          </a:p>
          <a:p>
            <a:pPr indent="0" marL="0">
              <a:buNone/>
            </a:pPr>
            <a:r>
              <a:rPr lang="en-US" sz="1050" dirty="0">
                <a:solidFill>
                  <a:srgbClr val="FFFFFF"/>
                </a:solidFill>
                <a:latin typeface="Arial" pitchFamily="34" charset="0"/>
                <a:ea typeface="Arial" pitchFamily="34" charset="-122"/>
                <a:cs typeface="Arial" pitchFamily="34" charset="-120"/>
              </a:rPr>
              <a:t>✔ 1-Click Print &amp; Vector PDF Generation</a:t>
            </a:r>
            <a:endParaRPr lang="en-US" sz="1050" dirty="0"/>
          </a:p>
          <a:p>
            <a:pPr indent="0" marL="0">
              <a:buNone/>
            </a:pPr>
            <a:r>
              <a:rPr lang="en-US" sz="1050" dirty="0">
                <a:solidFill>
                  <a:srgbClr val="FFFFFF"/>
                </a:solidFill>
                <a:latin typeface="Arial" pitchFamily="34" charset="0"/>
                <a:ea typeface="Arial" pitchFamily="34" charset="-122"/>
                <a:cs typeface="Arial" pitchFamily="34" charset="-120"/>
              </a:rPr>
              <a:t>✔ Public Candidate Directory for Recruiters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11</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CHALLENGES &amp; SOLUTIONS</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4389120"/>
                <a:gridCol w="6885432"/>
              </a:tblGrid>
              <a:tr h="457200">
                <a:tc>
                  <a:txBody>
                    <a:bodyPr/>
                    <a:lstStyle/>
                    <a:p>
                      <a:pPr indent="0" marL="0">
                        <a:buNone/>
                      </a:pPr>
                      <a:r>
                        <a:rPr lang="en-US" sz="1200" b="1" dirty="0">
                          <a:solidFill>
                            <a:srgbClr val="FFFFFF"/>
                          </a:solidFill>
                        </a:rPr>
                        <a:t>Challenge Encountered</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c>
                  <a:txBody>
                    <a:bodyPr/>
                    <a:lstStyle/>
                    <a:p>
                      <a:pPr indent="0" marL="0">
                        <a:buNone/>
                      </a:pPr>
                      <a:r>
                        <a:rPr lang="en-US" sz="1200" b="1" dirty="0">
                          <a:solidFill>
                            <a:srgbClr val="FFFFFF"/>
                          </a:solidFill>
                        </a:rPr>
                        <a:t>Engineered Solution</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r>
              <a:tr h="1371600">
                <a:tc>
                  <a:txBody>
                    <a:bodyPr/>
                    <a:lstStyle/>
                    <a:p>
                      <a:pPr indent="0" marL="0">
                        <a:buNone/>
                      </a:pPr>
                      <a:r>
                        <a:rPr lang="en-US" sz="1000" b="1" dirty="0">
                          <a:solidFill>
                            <a:srgbClr val="18224B"/>
                          </a:solidFill>
                        </a:rPr>
                        <a:t>1. Complex Relational State Mapping:</a:t>
                      </a:r>
                      <a:endParaRPr lang="en-US" sz="1000" dirty="0"/>
                    </a:p>
                    <a:p>
                      <a:pPr indent="0" marL="0">
                        <a:buNone/>
                      </a:pPr>
                      <a:r>
                        <a:rPr lang="en-US" sz="1000" b="1" dirty="0">
                          <a:solidFill>
                            <a:srgbClr val="18224B"/>
                          </a:solidFill>
                        </a:rPr>
                        <a:t>Synchronizing nested child lists (educations, experiences, skills) with JPA entities without duplicate key conflicts or orphan records.</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50" dirty="0">
                          <a:solidFill>
                            <a:srgbClr val="1E293B"/>
                          </a:solidFill>
                        </a:rPr>
                        <a:t>Implemented CascadeType.ALL with orphanRemoval=true in Spring Boot JPA entity relationships and structured DTO mapping to atomically synchronize updates.</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1371600">
                <a:tc>
                  <a:txBody>
                    <a:bodyPr/>
                    <a:lstStyle/>
                    <a:p>
                      <a:pPr indent="0" marL="0">
                        <a:buNone/>
                      </a:pPr>
                      <a:r>
                        <a:rPr lang="en-US" sz="1000" b="1" dirty="0">
                          <a:solidFill>
                            <a:srgbClr val="18224B"/>
                          </a:solidFill>
                        </a:rPr>
                        <a:t>2. High-Fidelity PDF Generation:</a:t>
                      </a:r>
                      <a:endParaRPr lang="en-US" sz="1000" dirty="0"/>
                    </a:p>
                    <a:p>
                      <a:pPr indent="0" marL="0">
                        <a:buNone/>
                      </a:pPr>
                      <a:r>
                        <a:rPr lang="en-US" sz="1000" b="1" dirty="0">
                          <a:solidFill>
                            <a:srgbClr val="18224B"/>
                          </a:solidFill>
                        </a:rPr>
                        <a:t>Preserving exact layout styling, fonts, page breaks, and colors during print-to-PDF without external heavy dependencies.</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rPr>
                        <a:t>Crafted custom `@media print` CSS style rules with clean page-break optimizations and an iframe isolation engine for pixel-perfect PDF downloads.</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1371600">
                <a:tc>
                  <a:txBody>
                    <a:bodyPr/>
                    <a:lstStyle/>
                    <a:p>
                      <a:pPr indent="0" marL="0">
                        <a:buNone/>
                      </a:pPr>
                      <a:r>
                        <a:rPr lang="en-US" sz="1000" b="1" dirty="0">
                          <a:solidFill>
                            <a:srgbClr val="18224B"/>
                          </a:solidFill>
                        </a:rPr>
                        <a:t>3. Real-Time Preview Performance:</a:t>
                      </a:r>
                      <a:endParaRPr lang="en-US" sz="1000" dirty="0"/>
                    </a:p>
                    <a:p>
                      <a:pPr indent="0" marL="0">
                        <a:buNone/>
                      </a:pPr>
                      <a:r>
                        <a:rPr lang="en-US" sz="1000" b="1" dirty="0">
                          <a:solidFill>
                            <a:srgbClr val="18224B"/>
                          </a:solidFill>
                        </a:rPr>
                        <a:t>Rendering continuous keystroke updates across heavy resume templates without UI stutter or memory lag.</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50" dirty="0">
                          <a:solidFill>
                            <a:srgbClr val="1E293B"/>
                          </a:solidFill>
                        </a:rPr>
                        <a:t>Leveraged lightweight component modularity and React synthetic event batching to ensure seamless 60fps side-by-side rendering.</a:t>
                      </a:r>
                      <a:endParaRPr lang="en-US" sz="10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12</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TESTING</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Text 4"/>
          <p:cNvSpPr/>
          <p:nvPr/>
        </p:nvSpPr>
        <p:spPr>
          <a:xfrm>
            <a:off x="457200" y="1005840"/>
            <a:ext cx="10972800" cy="320040"/>
          </a:xfrm>
          <a:prstGeom prst="rect">
            <a:avLst/>
          </a:prstGeom>
          <a:noFill/>
          <a:ln/>
        </p:spPr>
        <p:txBody>
          <a:bodyPr wrap="square" rtlCol="0" anchor="ctr"/>
          <a:lstStyle/>
          <a:p>
            <a:pPr indent="0" marL="0">
              <a:buNone/>
            </a:pPr>
            <a:r>
              <a:rPr lang="en-US" sz="1300" b="1" dirty="0">
                <a:solidFill>
                  <a:srgbClr val="18224B"/>
                </a:solidFill>
                <a:latin typeface="Arial" pitchFamily="34" charset="0"/>
                <a:ea typeface="Arial" pitchFamily="34" charset="-122"/>
                <a:cs typeface="Arial" pitchFamily="34" charset="-120"/>
              </a:rPr>
              <a:t>Testing approach</a:t>
            </a:r>
            <a:endParaRPr lang="en-US" sz="1300" dirty="0"/>
          </a:p>
        </p:txBody>
      </p:sp>
      <p:sp>
        <p:nvSpPr>
          <p:cNvPr id="7" name="Text 5"/>
          <p:cNvSpPr/>
          <p:nvPr/>
        </p:nvSpPr>
        <p:spPr>
          <a:xfrm>
            <a:off x="457200" y="1325880"/>
            <a:ext cx="11274552" cy="64008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Comprehensive testing strategy combining Spring Boot integration tests, Postman API endpoint verification, JWT filter boundary validation, and end-to-end frontend functional testing across multiple web browsers.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926080"/>
                <a:gridCol w="3474720"/>
                <a:gridCol w="3474720"/>
                <a:gridCol w="1399032"/>
              </a:tblGrid>
              <a:tr h="411480">
                <a:tc>
                  <a:txBody>
                    <a:bodyPr/>
                    <a:lstStyle/>
                    <a:p>
                      <a:pPr indent="0" marL="0">
                        <a:buNone/>
                      </a:pPr>
                      <a:r>
                        <a:rPr lang="en-US" sz="1100" b="1" dirty="0">
                          <a:solidFill>
                            <a:srgbClr val="FFFFFF"/>
                          </a:solidFill>
                        </a:rPr>
                        <a:t>Test Case</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c>
                  <a:txBody>
                    <a:bodyPr/>
                    <a:lstStyle/>
                    <a:p>
                      <a:pPr indent="0" marL="0">
                        <a:buNone/>
                      </a:pPr>
                      <a:r>
                        <a:rPr lang="en-US" sz="1100" b="1" dirty="0">
                          <a:solidFill>
                            <a:srgbClr val="FFFFFF"/>
                          </a:solidFill>
                        </a:rPr>
                        <a:t>Expected Result</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c>
                  <a:txBody>
                    <a:bodyPr/>
                    <a:lstStyle/>
                    <a:p>
                      <a:pPr indent="0" marL="0">
                        <a:buNone/>
                      </a:pPr>
                      <a:r>
                        <a:rPr lang="en-US" sz="1100" b="1" dirty="0">
                          <a:solidFill>
                            <a:srgbClr val="FFFFFF"/>
                          </a:solidFill>
                        </a:rPr>
                        <a:t>Actual Result</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c>
                  <a:txBody>
                    <a:bodyPr/>
                    <a:lstStyle/>
                    <a:p>
                      <a:pPr indent="0" marL="0">
                        <a:buNone/>
                      </a:pPr>
                      <a:r>
                        <a:rPr lang="en-US" sz="1100" b="1" dirty="0">
                          <a:solidFill>
                            <a:srgbClr val="FFFFFF"/>
                          </a:solidFill>
                        </a:rPr>
                        <a:t>Status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8224B"/>
                    </a:solidFill>
                  </a:tcPr>
                </a:tc>
              </a:tr>
              <a:tr h="1005840">
                <a:tc>
                  <a:txBody>
                    <a:bodyPr/>
                    <a:lstStyle/>
                    <a:p>
                      <a:pPr indent="0" marL="0">
                        <a:buNone/>
                      </a:pPr>
                      <a:r>
                        <a:rPr lang="en-US" sz="950" b="1" dirty="0">
                          <a:solidFill>
                            <a:srgbClr val="18224B"/>
                          </a:solidFill>
                        </a:rPr>
                        <a:t>TC-01: JWT Authentication &amp; Role Authorization</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rPr>
                        <a:t>Valid credentials generate signed JWT; unauthorized requests receive HTTP 401/403.</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rPr>
                        <a:t>Tokens issued correctly; protected endpoints blocked without valid Bearer token.</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6A34A"/>
                          </a:solidFill>
                        </a:rPr>
                        <a:t>PASSED</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1005840">
                <a:tc>
                  <a:txBody>
                    <a:bodyPr/>
                    <a:lstStyle/>
                    <a:p>
                      <a:pPr indent="0" marL="0">
                        <a:buNone/>
                      </a:pPr>
                      <a:r>
                        <a:rPr lang="en-US" sz="950" b="1" dirty="0">
                          <a:solidFill>
                            <a:srgbClr val="18224B"/>
                          </a:solidFill>
                        </a:rPr>
                        <a:t>TC-02: Resume CRUD &amp; Cascade Persistence</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rPr>
                        <a:t>Creating/updating resume persists all nested educations, experiences, and skills into MySQL.</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rPr>
                        <a:t>All child entities saved with correct foreign keys; deletion cleans up child rows.</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rPr>
                        <a:t>PASSED</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1005840">
                <a:tc>
                  <a:txBody>
                    <a:bodyPr/>
                    <a:lstStyle/>
                    <a:p>
                      <a:pPr indent="0" marL="0">
                        <a:buNone/>
                      </a:pPr>
                      <a:r>
                        <a:rPr lang="en-US" sz="950" b="1" dirty="0">
                          <a:solidFill>
                            <a:srgbClr val="18224B"/>
                          </a:solidFill>
                        </a:rPr>
                        <a:t>TC-03: Recruiter Search &amp; Filtering</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rPr>
                        <a:t>Recruiter query filters candidate cards by matching skills, title, and location.</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rPr>
                        <a:t>Matching public resumes returned accurately in real-time with responsive UI cards.</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6A34A"/>
                          </a:solidFill>
                        </a:rPr>
                        <a:t>PASSED</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65760"/>
            <a:ext cx="438912" cy="438912"/>
          </a:xfrm>
          <a:prstGeom prst="ellipse">
            <a:avLst/>
          </a:prstGeom>
          <a:solidFill>
            <a:srgbClr val="18224B"/>
          </a:solidFill>
          <a:ln w="12700">
            <a:solidFill>
              <a:srgbClr val="18224B"/>
            </a:solidFill>
            <a:prstDash val="solid"/>
          </a:ln>
        </p:spPr>
      </p:sp>
      <p:sp>
        <p:nvSpPr>
          <p:cNvPr id="3" name="Text 1"/>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FFFFFF"/>
                </a:solidFill>
              </a:rPr>
              <a:t>13</a:t>
            </a:r>
            <a:endParaRPr lang="en-US" sz="1200" dirty="0"/>
          </a:p>
        </p:txBody>
      </p:sp>
      <p:sp>
        <p:nvSpPr>
          <p:cNvPr id="4" name="Text 2"/>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18224B"/>
                </a:solidFill>
                <a:latin typeface="Arial" pitchFamily="34" charset="0"/>
                <a:ea typeface="Arial" pitchFamily="34" charset="-122"/>
                <a:cs typeface="Arial" pitchFamily="34" charset="-120"/>
              </a:rPr>
              <a:t>FUTURE ENHANCEMENTS</a:t>
            </a:r>
            <a:endParaRPr lang="en-US" sz="1400" dirty="0"/>
          </a:p>
        </p:txBody>
      </p:sp>
      <p:sp>
        <p:nvSpPr>
          <p:cNvPr id="5" name="Text 3"/>
          <p:cNvSpPr/>
          <p:nvPr/>
        </p:nvSpPr>
        <p:spPr>
          <a:xfrm>
            <a:off x="457200" y="6400800"/>
            <a:ext cx="10972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Project Review · Resume Builder Full-Stack Platform</a:t>
            </a:r>
            <a:endParaRPr lang="en-US" sz="900" dirty="0"/>
          </a:p>
        </p:txBody>
      </p:sp>
      <p:sp>
        <p:nvSpPr>
          <p:cNvPr id="6" name="Text 4"/>
          <p:cNvSpPr/>
          <p:nvPr/>
        </p:nvSpPr>
        <p:spPr>
          <a:xfrm>
            <a:off x="457200" y="1097280"/>
            <a:ext cx="10972800" cy="365760"/>
          </a:xfrm>
          <a:prstGeom prst="rect">
            <a:avLst/>
          </a:prstGeom>
          <a:noFill/>
          <a:ln/>
        </p:spPr>
        <p:txBody>
          <a:bodyPr wrap="square" rtlCol="0" anchor="ctr"/>
          <a:lstStyle/>
          <a:p>
            <a:pPr indent="0" marL="0">
              <a:buNone/>
            </a:pPr>
            <a:r>
              <a:rPr lang="en-US" sz="1600" b="1" dirty="0">
                <a:solidFill>
                  <a:srgbClr val="18224B"/>
                </a:solidFill>
                <a:latin typeface="Arial" pitchFamily="34" charset="0"/>
                <a:ea typeface="Arial" pitchFamily="34" charset="-122"/>
                <a:cs typeface="Arial" pitchFamily="34" charset="-120"/>
              </a:rPr>
              <a:t>Possible improvements</a:t>
            </a:r>
            <a:endParaRPr lang="en-US" sz="1600" dirty="0"/>
          </a:p>
        </p:txBody>
      </p:sp>
      <p:sp>
        <p:nvSpPr>
          <p:cNvPr id="7" name="Shape 5"/>
          <p:cNvSpPr/>
          <p:nvPr/>
        </p:nvSpPr>
        <p:spPr>
          <a:xfrm>
            <a:off x="457200" y="1645920"/>
            <a:ext cx="11274552" cy="960120"/>
          </a:xfrm>
          <a:prstGeom prst="roundRect">
            <a:avLst/>
          </a:prstGeom>
          <a:solidFill>
            <a:srgbClr val="EDF2F9"/>
          </a:solidFill>
          <a:ln w="12700">
            <a:solidFill>
              <a:srgbClr val="CBD5E1"/>
            </a:solidFill>
            <a:prstDash val="solid"/>
          </a:ln>
        </p:spPr>
      </p:sp>
      <p:sp>
        <p:nvSpPr>
          <p:cNvPr id="8" name="Text 6"/>
          <p:cNvSpPr/>
          <p:nvPr/>
        </p:nvSpPr>
        <p:spPr>
          <a:xfrm>
            <a:off x="731520" y="1737360"/>
            <a:ext cx="10515600" cy="320040"/>
          </a:xfrm>
          <a:prstGeom prst="rect">
            <a:avLst/>
          </a:prstGeom>
          <a:noFill/>
          <a:ln/>
        </p:spPr>
        <p:txBody>
          <a:bodyPr wrap="square" rtlCol="0" anchor="ctr"/>
          <a:lstStyle/>
          <a:p>
            <a:pPr indent="0" marL="0">
              <a:buNone/>
            </a:pPr>
            <a:r>
              <a:rPr lang="en-US" sz="1250" b="1" dirty="0">
                <a:solidFill>
                  <a:srgbClr val="18224B"/>
                </a:solidFill>
                <a:latin typeface="Arial" pitchFamily="34" charset="0"/>
                <a:ea typeface="Arial" pitchFamily="34" charset="-122"/>
                <a:cs typeface="Arial" pitchFamily="34" charset="-120"/>
              </a:rPr>
              <a:t>• AI Resume Assistant &amp; ATS Score Evaluator</a:t>
            </a:r>
            <a:endParaRPr lang="en-US" sz="1250" dirty="0"/>
          </a:p>
        </p:txBody>
      </p:sp>
      <p:sp>
        <p:nvSpPr>
          <p:cNvPr id="9" name="Text 7"/>
          <p:cNvSpPr/>
          <p:nvPr/>
        </p:nvSpPr>
        <p:spPr>
          <a:xfrm>
            <a:off x="914400" y="2057400"/>
            <a:ext cx="1033272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Integrate OpenAI / Gemini API to automatically generate tailored executive summaries, suggest role-specific bullet points, and calculate real-time ATS match scores against target job descriptions.</a:t>
            </a:r>
            <a:endParaRPr lang="en-US" sz="1050" dirty="0"/>
          </a:p>
        </p:txBody>
      </p:sp>
      <p:sp>
        <p:nvSpPr>
          <p:cNvPr id="10" name="Shape 8"/>
          <p:cNvSpPr/>
          <p:nvPr/>
        </p:nvSpPr>
        <p:spPr>
          <a:xfrm>
            <a:off x="457200" y="2788920"/>
            <a:ext cx="11274552" cy="960120"/>
          </a:xfrm>
          <a:prstGeom prst="roundRect">
            <a:avLst/>
          </a:prstGeom>
          <a:solidFill>
            <a:srgbClr val="EDF2F9"/>
          </a:solidFill>
          <a:ln w="12700">
            <a:solidFill>
              <a:srgbClr val="CBD5E1"/>
            </a:solidFill>
            <a:prstDash val="solid"/>
          </a:ln>
        </p:spPr>
      </p:sp>
      <p:sp>
        <p:nvSpPr>
          <p:cNvPr id="11" name="Text 9"/>
          <p:cNvSpPr/>
          <p:nvPr/>
        </p:nvSpPr>
        <p:spPr>
          <a:xfrm>
            <a:off x="731520" y="2880360"/>
            <a:ext cx="10515600" cy="320040"/>
          </a:xfrm>
          <a:prstGeom prst="rect">
            <a:avLst/>
          </a:prstGeom>
          <a:noFill/>
          <a:ln/>
        </p:spPr>
        <p:txBody>
          <a:bodyPr wrap="square" rtlCol="0" anchor="ctr"/>
          <a:lstStyle/>
          <a:p>
            <a:pPr indent="0" marL="0">
              <a:buNone/>
            </a:pPr>
            <a:r>
              <a:rPr lang="en-US" sz="1250" b="1" dirty="0">
                <a:solidFill>
                  <a:srgbClr val="18224B"/>
                </a:solidFill>
                <a:latin typeface="Arial" pitchFamily="34" charset="0"/>
                <a:ea typeface="Arial" pitchFamily="34" charset="-122"/>
                <a:cs typeface="Arial" pitchFamily="34" charset="-120"/>
              </a:rPr>
              <a:t>• Cloud Storage &amp; CDN Profile Photos</a:t>
            </a:r>
            <a:endParaRPr lang="en-US" sz="1250" dirty="0"/>
          </a:p>
        </p:txBody>
      </p:sp>
      <p:sp>
        <p:nvSpPr>
          <p:cNvPr id="12" name="Text 10"/>
          <p:cNvSpPr/>
          <p:nvPr/>
        </p:nvSpPr>
        <p:spPr>
          <a:xfrm>
            <a:off x="914400" y="3200400"/>
            <a:ext cx="1033272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Connect AWS S3 / Cloudinary for scalable image upload hosting and multimedia portfolio attachments.</a:t>
            </a:r>
            <a:endParaRPr lang="en-US" sz="1050" dirty="0"/>
          </a:p>
        </p:txBody>
      </p:sp>
      <p:sp>
        <p:nvSpPr>
          <p:cNvPr id="13" name="Shape 11"/>
          <p:cNvSpPr/>
          <p:nvPr/>
        </p:nvSpPr>
        <p:spPr>
          <a:xfrm>
            <a:off x="457200" y="3931920"/>
            <a:ext cx="11274552" cy="960120"/>
          </a:xfrm>
          <a:prstGeom prst="roundRect">
            <a:avLst/>
          </a:prstGeom>
          <a:solidFill>
            <a:srgbClr val="EDF2F9"/>
          </a:solidFill>
          <a:ln w="12700">
            <a:solidFill>
              <a:srgbClr val="CBD5E1"/>
            </a:solidFill>
            <a:prstDash val="solid"/>
          </a:ln>
        </p:spPr>
      </p:sp>
      <p:sp>
        <p:nvSpPr>
          <p:cNvPr id="14" name="Text 12"/>
          <p:cNvSpPr/>
          <p:nvPr/>
        </p:nvSpPr>
        <p:spPr>
          <a:xfrm>
            <a:off x="731520" y="4023360"/>
            <a:ext cx="10515600" cy="320040"/>
          </a:xfrm>
          <a:prstGeom prst="rect">
            <a:avLst/>
          </a:prstGeom>
          <a:noFill/>
          <a:ln/>
        </p:spPr>
        <p:txBody>
          <a:bodyPr wrap="square" rtlCol="0" anchor="ctr"/>
          <a:lstStyle/>
          <a:p>
            <a:pPr indent="0" marL="0">
              <a:buNone/>
            </a:pPr>
            <a:r>
              <a:rPr lang="en-US" sz="1250" b="1" dirty="0">
                <a:solidFill>
                  <a:srgbClr val="18224B"/>
                </a:solidFill>
                <a:latin typeface="Arial" pitchFamily="34" charset="0"/>
                <a:ea typeface="Arial" pitchFamily="34" charset="-122"/>
                <a:cs typeface="Arial" pitchFamily="34" charset="-120"/>
              </a:rPr>
              <a:t>• Direct Job Board Integrations &amp; One-Click Apply</a:t>
            </a:r>
            <a:endParaRPr lang="en-US" sz="1250" dirty="0"/>
          </a:p>
        </p:txBody>
      </p:sp>
      <p:sp>
        <p:nvSpPr>
          <p:cNvPr id="15" name="Text 13"/>
          <p:cNvSpPr/>
          <p:nvPr/>
        </p:nvSpPr>
        <p:spPr>
          <a:xfrm>
            <a:off x="914400" y="4343400"/>
            <a:ext cx="1033272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Enable candidates to export directly to LinkedIn, Indeed, and corporate portals via standardized JSON resume schemas.</a:t>
            </a:r>
            <a:endParaRPr lang="en-US" sz="1050" dirty="0"/>
          </a:p>
        </p:txBody>
      </p:sp>
      <p:sp>
        <p:nvSpPr>
          <p:cNvPr id="16" name="Shape 14"/>
          <p:cNvSpPr/>
          <p:nvPr/>
        </p:nvSpPr>
        <p:spPr>
          <a:xfrm>
            <a:off x="457200" y="5074920"/>
            <a:ext cx="11274552" cy="960120"/>
          </a:xfrm>
          <a:prstGeom prst="roundRect">
            <a:avLst/>
          </a:prstGeom>
          <a:solidFill>
            <a:srgbClr val="EDF2F9"/>
          </a:solidFill>
          <a:ln w="12700">
            <a:solidFill>
              <a:srgbClr val="CBD5E1"/>
            </a:solidFill>
            <a:prstDash val="solid"/>
          </a:ln>
        </p:spPr>
      </p:sp>
      <p:sp>
        <p:nvSpPr>
          <p:cNvPr id="17" name="Text 15"/>
          <p:cNvSpPr/>
          <p:nvPr/>
        </p:nvSpPr>
        <p:spPr>
          <a:xfrm>
            <a:off x="731520" y="5166360"/>
            <a:ext cx="10515600" cy="320040"/>
          </a:xfrm>
          <a:prstGeom prst="rect">
            <a:avLst/>
          </a:prstGeom>
          <a:noFill/>
          <a:ln/>
        </p:spPr>
        <p:txBody>
          <a:bodyPr wrap="square" rtlCol="0" anchor="ctr"/>
          <a:lstStyle/>
          <a:p>
            <a:pPr indent="0" marL="0">
              <a:buNone/>
            </a:pPr>
            <a:r>
              <a:rPr lang="en-US" sz="1250" b="1" dirty="0">
                <a:solidFill>
                  <a:srgbClr val="18224B"/>
                </a:solidFill>
                <a:latin typeface="Arial" pitchFamily="34" charset="0"/>
                <a:ea typeface="Arial" pitchFamily="34" charset="-122"/>
                <a:cs typeface="Arial" pitchFamily="34" charset="-120"/>
              </a:rPr>
              <a:t>• Real-Time Collaboration &amp; Mentor Feedback</a:t>
            </a:r>
            <a:endParaRPr lang="en-US" sz="1250" dirty="0"/>
          </a:p>
        </p:txBody>
      </p:sp>
      <p:sp>
        <p:nvSpPr>
          <p:cNvPr id="18" name="Text 16"/>
          <p:cNvSpPr/>
          <p:nvPr/>
        </p:nvSpPr>
        <p:spPr>
          <a:xfrm>
            <a:off x="914400" y="5486400"/>
            <a:ext cx="1033272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Introduce WebSocket-driven live collaborative review mode for career coaches and university placement cells.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224B"/>
        </a:solidFill>
      </p:bgPr>
    </p:bg>
    <p:spTree>
      <p:nvGrpSpPr>
        <p:cNvPr id="1" name=""/>
        <p:cNvGrpSpPr/>
        <p:nvPr/>
      </p:nvGrpSpPr>
      <p:grpSpPr>
        <a:xfrm>
          <a:off x="0" y="0"/>
          <a:ext cx="0" cy="0"/>
          <a:chOff x="0" y="0"/>
          <a:chExt cx="0" cy="0"/>
        </a:xfrm>
      </p:grpSpPr>
      <p:sp>
        <p:nvSpPr>
          <p:cNvPr id="2" name="Shape 0"/>
          <p:cNvSpPr/>
          <p:nvPr/>
        </p:nvSpPr>
        <p:spPr>
          <a:xfrm>
            <a:off x="9144000" y="-914400"/>
            <a:ext cx="4572000" cy="4572000"/>
          </a:xfrm>
          <a:prstGeom prst="ellipse">
            <a:avLst/>
          </a:prstGeom>
          <a:solidFill>
            <a:srgbClr val="202D62">
              <a:alpha val="50000"/>
            </a:srgbClr>
          </a:solidFill>
          <a:ln w="12700">
            <a:solidFill>
              <a:srgbClr val="202D62">
                <a:alpha val="0"/>
              </a:srgbClr>
            </a:solidFill>
            <a:prstDash val="solid"/>
          </a:ln>
        </p:spPr>
      </p:sp>
      <p:sp>
        <p:nvSpPr>
          <p:cNvPr id="3" name="Shape 1"/>
          <p:cNvSpPr/>
          <p:nvPr/>
        </p:nvSpPr>
        <p:spPr>
          <a:xfrm>
            <a:off x="457200" y="365760"/>
            <a:ext cx="438912" cy="438912"/>
          </a:xfrm>
          <a:prstGeom prst="ellipse">
            <a:avLst/>
          </a:prstGeom>
          <a:solidFill>
            <a:srgbClr val="FFFFFF"/>
          </a:solidFill>
          <a:ln w="12700">
            <a:solidFill>
              <a:srgbClr val="FFFFFF"/>
            </a:solidFill>
            <a:prstDash val="solid"/>
          </a:ln>
        </p:spPr>
      </p:sp>
      <p:sp>
        <p:nvSpPr>
          <p:cNvPr id="4" name="Text 2"/>
          <p:cNvSpPr/>
          <p:nvPr/>
        </p:nvSpPr>
        <p:spPr>
          <a:xfrm>
            <a:off x="457200" y="365760"/>
            <a:ext cx="438912" cy="438912"/>
          </a:xfrm>
          <a:prstGeom prst="rect">
            <a:avLst/>
          </a:prstGeom>
          <a:noFill/>
          <a:ln/>
        </p:spPr>
        <p:txBody>
          <a:bodyPr wrap="square" rtlCol="0" anchor="ctr"/>
          <a:lstStyle/>
          <a:p>
            <a:pPr algn="ctr" indent="0" marL="0">
              <a:buNone/>
            </a:pPr>
            <a:r>
              <a:rPr lang="en-US" sz="1200" b="1" dirty="0">
                <a:solidFill>
                  <a:srgbClr val="18224B"/>
                </a:solidFill>
              </a:rPr>
              <a:t>14</a:t>
            </a:r>
            <a:endParaRPr lang="en-US" sz="1200" dirty="0"/>
          </a:p>
        </p:txBody>
      </p:sp>
      <p:sp>
        <p:nvSpPr>
          <p:cNvPr id="5" name="Text 3"/>
          <p:cNvSpPr/>
          <p:nvPr/>
        </p:nvSpPr>
        <p:spPr>
          <a:xfrm>
            <a:off x="1005840" y="365760"/>
            <a:ext cx="9144000" cy="438912"/>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CONCLUSION</a:t>
            </a:r>
            <a:endParaRPr lang="en-US" sz="1400" dirty="0"/>
          </a:p>
        </p:txBody>
      </p:sp>
      <p:sp>
        <p:nvSpPr>
          <p:cNvPr id="6" name="Text 4"/>
          <p:cNvSpPr/>
          <p:nvPr/>
        </p:nvSpPr>
        <p:spPr>
          <a:xfrm>
            <a:off x="457200" y="1280160"/>
            <a:ext cx="10515600" cy="32004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Summary</a:t>
            </a:r>
            <a:endParaRPr lang="en-US" sz="1400" dirty="0"/>
          </a:p>
        </p:txBody>
      </p:sp>
      <p:sp>
        <p:nvSpPr>
          <p:cNvPr id="7" name="Text 5"/>
          <p:cNvSpPr/>
          <p:nvPr/>
        </p:nvSpPr>
        <p:spPr>
          <a:xfrm>
            <a:off x="457200" y="1645920"/>
            <a:ext cx="10515600" cy="10058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The Full-Stack Resume Builder successfully resolves formatting friction for job seekers while providing recruiters with an efficient candidate discovery ecosystem. Built on Spring Boot 3, MySQL, React 18, and JWT security, it offers a production-grade, highly responsive web platform.</a:t>
            </a:r>
            <a:endParaRPr lang="en-US" sz="1200" dirty="0"/>
          </a:p>
        </p:txBody>
      </p:sp>
      <p:sp>
        <p:nvSpPr>
          <p:cNvPr id="8" name="Text 6"/>
          <p:cNvSpPr/>
          <p:nvPr/>
        </p:nvSpPr>
        <p:spPr>
          <a:xfrm>
            <a:off x="457200" y="2834640"/>
            <a:ext cx="10515600" cy="32004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Key achievements</a:t>
            </a:r>
            <a:endParaRPr lang="en-US" sz="1400" dirty="0"/>
          </a:p>
        </p:txBody>
      </p:sp>
      <p:sp>
        <p:nvSpPr>
          <p:cNvPr id="9" name="Text 7"/>
          <p:cNvSpPr/>
          <p:nvPr/>
        </p:nvSpPr>
        <p:spPr>
          <a:xfrm>
            <a:off x="457200" y="3200400"/>
            <a:ext cx="10515600" cy="1645920"/>
          </a:xfrm>
          <a:prstGeom prst="rect">
            <a:avLst/>
          </a:prstGeom>
          <a:noFill/>
          <a:ln/>
        </p:spPr>
        <p:txBody>
          <a:bodyPr wrap="square" rtlCol="0" anchor="ctr"/>
          <a:lstStyle/>
          <a:p>
            <a:pPr marL="342900" indent="-342900">
              <a:buSzPct val="100000"/>
              <a:buChar char="•"/>
            </a:pPr>
            <a:r>
              <a:rPr lang="en-US" sz="1200" dirty="0">
                <a:solidFill>
                  <a:srgbClr val="FFFFFF"/>
                </a:solidFill>
                <a:latin typeface="Arial" pitchFamily="34" charset="0"/>
                <a:ea typeface="Arial" pitchFamily="34" charset="-122"/>
                <a:cs typeface="Arial" pitchFamily="34" charset="-120"/>
              </a:rPr>
              <a:t>Developed end-to-end full stack architecture with zero-latency live preview and 6 ATS templates.</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Integrated stateless JWT security with role-based access for both job seekers and hiring recruiters.</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Designed robust normalized MySQL schema with cascade handling and multi-format (PDF/JSON) export.</a:t>
            </a:r>
            <a:endParaRPr lang="en-US" sz="1200" dirty="0"/>
          </a:p>
        </p:txBody>
      </p:sp>
      <p:sp>
        <p:nvSpPr>
          <p:cNvPr id="10" name="Shape 8"/>
          <p:cNvSpPr/>
          <p:nvPr/>
        </p:nvSpPr>
        <p:spPr>
          <a:xfrm>
            <a:off x="457200" y="5120640"/>
            <a:ext cx="10515600" cy="0"/>
          </a:xfrm>
          <a:prstGeom prst="line">
            <a:avLst/>
          </a:prstGeom>
          <a:noFill/>
          <a:ln w="19050">
            <a:solidFill>
              <a:srgbClr val="3B82F6"/>
            </a:solidFill>
            <a:prstDash val="solid"/>
          </a:ln>
        </p:spPr>
      </p:sp>
      <p:sp>
        <p:nvSpPr>
          <p:cNvPr id="11" name="Text 9"/>
          <p:cNvSpPr/>
          <p:nvPr/>
        </p:nvSpPr>
        <p:spPr>
          <a:xfrm>
            <a:off x="457200" y="5394960"/>
            <a:ext cx="10515600" cy="54864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Thank you  ·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2026-09-16T15:00:41Z</dcterms:created>
  <dcterms:modified xsi:type="dcterms:W3CDTF">2026-09-16T15:00:41Z</dcterms:modified>
</cp:coreProperties>
</file>